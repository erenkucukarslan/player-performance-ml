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5" r:id="rId11"/>
    <p:sldId id="264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660"/>
  </p:normalViewPr>
  <p:slideViewPr>
    <p:cSldViewPr>
      <p:cViewPr varScale="1">
        <p:scale>
          <a:sx n="95" d="100"/>
          <a:sy n="95" d="100"/>
        </p:scale>
        <p:origin x="-1104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tr-TR"/>
              <a:t>Figure</a:t>
            </a:r>
            <a:r>
              <a:rPr lang="tr-TR" baseline="0"/>
              <a:t> 1</a:t>
            </a:r>
          </a:p>
        </c:rich>
      </c:tx>
      <c:layout>
        <c:manualLayout>
          <c:xMode val="edge"/>
          <c:yMode val="edge"/>
          <c:x val="0.426923849283940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1457608906269266"/>
          <c:y val="8.2231532555756728E-2"/>
          <c:w val="0.77580263876411426"/>
          <c:h val="0.808716815111225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Player 1</c:v>
                </c:pt>
              </c:strCache>
            </c:strRef>
          </c:tx>
          <c:invertIfNegative val="0"/>
          <c:cat>
            <c:strRef>
              <c:f>Sayfa1!$A$2:$A$5</c:f>
              <c:strCache>
                <c:ptCount val="4"/>
                <c:pt idx="0">
                  <c:v>Finishing</c:v>
                </c:pt>
                <c:pt idx="1">
                  <c:v>Pass</c:v>
                </c:pt>
                <c:pt idx="2">
                  <c:v>Speed</c:v>
                </c:pt>
                <c:pt idx="3">
                  <c:v>Defensive Actions</c:v>
                </c:pt>
              </c:strCache>
            </c:strRef>
          </c:cat>
          <c:val>
            <c:numRef>
              <c:f>Sayfa1!$B$2:$B$5</c:f>
              <c:numCache>
                <c:formatCode>General</c:formatCode>
                <c:ptCount val="4"/>
                <c:pt idx="0">
                  <c:v>13</c:v>
                </c:pt>
                <c:pt idx="1">
                  <c:v>12</c:v>
                </c:pt>
                <c:pt idx="2">
                  <c:v>12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Sayfa1!$C$1</c:f>
              <c:strCache>
                <c:ptCount val="1"/>
                <c:pt idx="0">
                  <c:v>Player 2</c:v>
                </c:pt>
              </c:strCache>
            </c:strRef>
          </c:tx>
          <c:invertIfNegative val="0"/>
          <c:cat>
            <c:strRef>
              <c:f>Sayfa1!$A$2:$A$5</c:f>
              <c:strCache>
                <c:ptCount val="4"/>
                <c:pt idx="0">
                  <c:v>Finishing</c:v>
                </c:pt>
                <c:pt idx="1">
                  <c:v>Pass</c:v>
                </c:pt>
                <c:pt idx="2">
                  <c:v>Speed</c:v>
                </c:pt>
                <c:pt idx="3">
                  <c:v>Defensive Actions</c:v>
                </c:pt>
              </c:strCache>
            </c:strRef>
          </c:cat>
          <c:val>
            <c:numRef>
              <c:f>Sayfa1!$C$2:$C$5</c:f>
              <c:numCache>
                <c:formatCode>General</c:formatCode>
                <c:ptCount val="4"/>
                <c:pt idx="0">
                  <c:v>10</c:v>
                </c:pt>
                <c:pt idx="1">
                  <c:v>15</c:v>
                </c:pt>
                <c:pt idx="2">
                  <c:v>8</c:v>
                </c:pt>
                <c:pt idx="3">
                  <c:v>12</c:v>
                </c:pt>
              </c:numCache>
            </c:numRef>
          </c:val>
        </c:ser>
        <c:ser>
          <c:idx val="2"/>
          <c:order val="2"/>
          <c:tx>
            <c:strRef>
              <c:f>Sayfa1!$D$1</c:f>
              <c:strCache>
                <c:ptCount val="1"/>
                <c:pt idx="0">
                  <c:v>Player 3</c:v>
                </c:pt>
              </c:strCache>
            </c:strRef>
          </c:tx>
          <c:invertIfNegative val="0"/>
          <c:cat>
            <c:strRef>
              <c:f>Sayfa1!$A$2:$A$5</c:f>
              <c:strCache>
                <c:ptCount val="4"/>
                <c:pt idx="0">
                  <c:v>Finishing</c:v>
                </c:pt>
                <c:pt idx="1">
                  <c:v>Pass</c:v>
                </c:pt>
                <c:pt idx="2">
                  <c:v>Speed</c:v>
                </c:pt>
                <c:pt idx="3">
                  <c:v>Defensive Actions</c:v>
                </c:pt>
              </c:strCache>
            </c:strRef>
          </c:cat>
          <c:val>
            <c:numRef>
              <c:f>Sayfa1!$D$2:$D$5</c:f>
              <c:numCache>
                <c:formatCode>General</c:formatCode>
                <c:ptCount val="4"/>
                <c:pt idx="0">
                  <c:v>5</c:v>
                </c:pt>
                <c:pt idx="1">
                  <c:v>13</c:v>
                </c:pt>
                <c:pt idx="2">
                  <c:v>9</c:v>
                </c:pt>
                <c:pt idx="3">
                  <c:v>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4840576"/>
        <c:axId val="144859136"/>
      </c:barChart>
      <c:catAx>
        <c:axId val="14484057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tr-TR" sz="1400" b="0"/>
                  <a:t>Player</a:t>
                </a:r>
                <a:r>
                  <a:rPr lang="tr-TR" sz="1400" b="0" baseline="0"/>
                  <a:t> Metrics</a:t>
                </a:r>
                <a:endParaRPr lang="tr-TR" sz="1400" b="0"/>
              </a:p>
            </c:rich>
          </c:tx>
          <c:layout/>
          <c:overlay val="0"/>
        </c:title>
        <c:majorTickMark val="out"/>
        <c:minorTickMark val="none"/>
        <c:tickLblPos val="nextTo"/>
        <c:crossAx val="144859136"/>
        <c:crosses val="autoZero"/>
        <c:auto val="1"/>
        <c:lblAlgn val="ctr"/>
        <c:lblOffset val="100"/>
        <c:noMultiLvlLbl val="0"/>
      </c:catAx>
      <c:valAx>
        <c:axId val="144859136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tr-TR" sz="1400" b="0"/>
                  <a:t>Comparison of Player Performance Metrics (Out of 20)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840576"/>
        <c:crosses val="autoZero"/>
        <c:crossBetween val="between"/>
      </c:valAx>
      <c:spPr>
        <a:noFill/>
        <a:ln>
          <a:noFill/>
        </a:ln>
        <a:effectLst>
          <a:glow>
            <a:schemeClr val="accent1"/>
          </a:glow>
          <a:outerShdw sx="1000" sy="1000" algn="ctr" rotWithShape="0">
            <a:srgbClr val="000000"/>
          </a:outerShdw>
        </a:effectLst>
      </c:spPr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tr-TR"/>
              <a:t>Figure</a:t>
            </a:r>
            <a:r>
              <a:rPr lang="tr-TR" baseline="0"/>
              <a:t> 2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Seri 1</c:v>
                </c:pt>
              </c:strCache>
            </c:strRef>
          </c:tx>
          <c:invertIfNegative val="0"/>
          <c:cat>
            <c:strRef>
              <c:f>Sayfa1!$A$2:$A$4</c:f>
              <c:strCache>
                <c:ptCount val="3"/>
                <c:pt idx="0">
                  <c:v>Player 1</c:v>
                </c:pt>
                <c:pt idx="1">
                  <c:v>Player 2</c:v>
                </c:pt>
                <c:pt idx="2">
                  <c:v>Player 3</c:v>
                </c:pt>
              </c:strCache>
            </c:strRef>
          </c:cat>
          <c:val>
            <c:numRef>
              <c:f>Sayfa1!$B$2:$B$4</c:f>
              <c:numCache>
                <c:formatCode>General</c:formatCode>
                <c:ptCount val="3"/>
                <c:pt idx="0">
                  <c:v>35</c:v>
                </c:pt>
                <c:pt idx="1">
                  <c:v>30</c:v>
                </c:pt>
                <c:pt idx="2">
                  <c:v>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4952704"/>
        <c:axId val="145025664"/>
      </c:barChart>
      <c:catAx>
        <c:axId val="14495270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tr-TR" sz="1400" b="0"/>
                  <a:t>Players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145025664"/>
        <c:crosses val="autoZero"/>
        <c:auto val="1"/>
        <c:lblAlgn val="ctr"/>
        <c:lblOffset val="100"/>
        <c:noMultiLvlLbl val="0"/>
      </c:catAx>
      <c:valAx>
        <c:axId val="14502566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tr-TR" sz="1400" b="0" i="0" u="none" strike="noStrike" baseline="0">
                    <a:effectLst/>
                  </a:rPr>
                  <a:t>Estimated Transfer Values (in million €) </a:t>
                </a:r>
                <a:endParaRPr lang="tr-TR" sz="1400" b="0"/>
              </a:p>
            </c:rich>
          </c:tx>
          <c:layout>
            <c:manualLayout>
              <c:xMode val="edge"/>
              <c:yMode val="edge"/>
              <c:x val="1.8518518518518517E-2"/>
              <c:y val="9.6834088123754075E-2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14495270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EE0BB3-C248-4FC6-9B44-AA3E0D132ABB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7C3EA-2738-49DE-8DD6-945133D3BB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7567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37C3EA-2738-49DE-8DD6-945133D3BB9D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97066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720DD-5B6D-40BF-8493-A6B52D484E6B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afik 4" title="Comparision of Player Performance Metrics (Out of 20)"/>
          <p:cNvGraphicFramePr/>
          <p:nvPr>
            <p:extLst>
              <p:ext uri="{D42A27DB-BD31-4B8C-83A1-F6EECF244321}">
                <p14:modId xmlns:p14="http://schemas.microsoft.com/office/powerpoint/2010/main" val="2298689375"/>
              </p:ext>
            </p:extLst>
          </p:nvPr>
        </p:nvGraphicFramePr>
        <p:xfrm>
          <a:off x="1331640" y="692696"/>
          <a:ext cx="6316980" cy="4213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Dikdörtgen 5"/>
          <p:cNvSpPr/>
          <p:nvPr/>
        </p:nvSpPr>
        <p:spPr>
          <a:xfrm>
            <a:off x="2051720" y="52292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A bar chart comparing player performance metrics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(e.g., Finishing, Passing, Speed, and Defensive Actions) on a 20-point scale highlights the varying strengths of individual players.</a:t>
            </a:r>
            <a:endParaRPr lang="tr-T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853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7466273"/>
              </p:ext>
            </p:extLst>
          </p:nvPr>
        </p:nvGraphicFramePr>
        <p:xfrm>
          <a:off x="467544" y="620688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Dikdörtgen 4"/>
          <p:cNvSpPr/>
          <p:nvPr/>
        </p:nvSpPr>
        <p:spPr>
          <a:xfrm>
            <a:off x="2195736" y="5229200"/>
            <a:ext cx="48245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A bar chart illustrating estimated transfer values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 millions of euros) derived from performance metrics, emphasizing the relationship between individual capabilities and market worth.</a:t>
            </a:r>
            <a:endParaRPr lang="tr-T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04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642450"/>
              </p:ext>
            </p:extLst>
          </p:nvPr>
        </p:nvGraphicFramePr>
        <p:xfrm>
          <a:off x="1167903" y="1052736"/>
          <a:ext cx="6768752" cy="36003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77657"/>
                <a:gridCol w="2184325"/>
                <a:gridCol w="2306770"/>
              </a:tblGrid>
              <a:tr h="3182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dec"/>
                        </a:tabLst>
                      </a:pPr>
                      <a:r>
                        <a:rPr lang="tr-TR" sz="1100">
                          <a:effectLst/>
                        </a:rPr>
                        <a:t>Factor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dec"/>
                        </a:tabLst>
                      </a:pPr>
                      <a:r>
                        <a:rPr lang="tr-TR" sz="1100">
                          <a:effectLst/>
                        </a:rPr>
                        <a:t>Description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dec"/>
                        </a:tabLst>
                      </a:pPr>
                      <a:r>
                        <a:rPr lang="tr-TR" sz="1100">
                          <a:effectLst/>
                        </a:rPr>
                        <a:t>Impact on Transfer Value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564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dec"/>
                        </a:tabLst>
                      </a:pPr>
                      <a:r>
                        <a:rPr lang="tr-TR" sz="1100">
                          <a:effectLst/>
                        </a:rPr>
                        <a:t>Player Age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dec"/>
                        </a:tabLst>
                      </a:pPr>
                      <a:r>
                        <a:rPr lang="tr-TR" sz="1100">
                          <a:effectLst/>
                        </a:rPr>
                        <a:t>Young players generally valued higher.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dec"/>
                        </a:tabLst>
                      </a:pPr>
                      <a:r>
                        <a:rPr lang="tr-TR" sz="1100">
                          <a:effectLst/>
                        </a:rPr>
                        <a:t>High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564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dec"/>
                        </a:tabLst>
                      </a:pPr>
                      <a:r>
                        <a:rPr lang="tr-TR" sz="1100">
                          <a:effectLst/>
                        </a:rPr>
                        <a:t>Performance Metrics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dec"/>
                        </a:tabLst>
                      </a:pPr>
                      <a:r>
                        <a:rPr lang="tr-TR" sz="1100">
                          <a:effectLst/>
                        </a:rPr>
                        <a:t>Goals, asists, pass accuracy, etc.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dec"/>
                        </a:tabLst>
                      </a:pPr>
                      <a:r>
                        <a:rPr lang="tr-TR" sz="1100">
                          <a:effectLst/>
                        </a:rPr>
                        <a:t>Very High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564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dec"/>
                        </a:tabLst>
                      </a:pPr>
                      <a:r>
                        <a:rPr lang="tr-TR" sz="1100">
                          <a:effectLst/>
                        </a:rPr>
                        <a:t>Contract Duration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dec"/>
                        </a:tabLst>
                      </a:pPr>
                      <a:r>
                        <a:rPr lang="tr-TR" sz="1100">
                          <a:effectLst/>
                        </a:rPr>
                        <a:t>Longer contracts increase player value.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dec"/>
                        </a:tabLst>
                      </a:pPr>
                      <a:r>
                        <a:rPr lang="tr-TR" sz="1100">
                          <a:effectLst/>
                        </a:rPr>
                        <a:t>Medium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564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dec"/>
                        </a:tabLst>
                      </a:pPr>
                      <a:r>
                        <a:rPr lang="tr-TR" sz="1100">
                          <a:effectLst/>
                        </a:rPr>
                        <a:t>Injury History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dec"/>
                        </a:tabLst>
                      </a:pPr>
                      <a:r>
                        <a:rPr lang="tr-TR" sz="1100">
                          <a:effectLst/>
                        </a:rPr>
                        <a:t>Frequent injuries lower market value.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dec"/>
                        </a:tabLst>
                      </a:pPr>
                      <a:r>
                        <a:rPr lang="tr-TR" sz="1100">
                          <a:effectLst/>
                        </a:rPr>
                        <a:t>High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564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dec"/>
                        </a:tabLst>
                      </a:pPr>
                      <a:r>
                        <a:rPr lang="tr-TR" sz="1100">
                          <a:effectLst/>
                        </a:rPr>
                        <a:t>Market Demand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dec"/>
                        </a:tabLst>
                      </a:pPr>
                      <a:r>
                        <a:rPr lang="tr-TR" sz="1100">
                          <a:effectLst/>
                        </a:rPr>
                        <a:t>High demand for certain positions (e.g., strikers).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28600" algn="dec"/>
                        </a:tabLst>
                      </a:pPr>
                      <a:r>
                        <a:rPr lang="tr-TR" sz="1100" dirty="0" err="1">
                          <a:effectLst/>
                        </a:rPr>
                        <a:t>Medium</a:t>
                      </a:r>
                      <a:endParaRPr lang="tr-TR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Dikdörtgen 4"/>
          <p:cNvSpPr/>
          <p:nvPr/>
        </p:nvSpPr>
        <p:spPr>
          <a:xfrm>
            <a:off x="2267744" y="404664"/>
            <a:ext cx="4569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1: Factors Influencing Transfer Values</a:t>
            </a:r>
            <a:endParaRPr lang="tr-TR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2257338" y="5013176"/>
            <a:ext cx="49789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2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tr-T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identifies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factors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impacting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player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transfer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categorizing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influence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emerge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determinant.</a:t>
            </a:r>
          </a:p>
        </p:txBody>
      </p:sp>
    </p:spTree>
    <p:extLst>
      <p:ext uri="{BB962C8B-B14F-4D97-AF65-F5344CB8AC3E}">
        <p14:creationId xmlns:p14="http://schemas.microsoft.com/office/powerpoint/2010/main" val="699183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2220966"/>
              </p:ext>
            </p:extLst>
          </p:nvPr>
        </p:nvGraphicFramePr>
        <p:xfrm>
          <a:off x="1979712" y="1052736"/>
          <a:ext cx="5328593" cy="39604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1936"/>
                <a:gridCol w="1818703"/>
                <a:gridCol w="2317954"/>
              </a:tblGrid>
              <a:tr h="6600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Features Category</a:t>
                      </a:r>
                      <a:endParaRPr lang="tr-TR" sz="1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tr-TR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Features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Examples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6600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Technical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Finishing, Passing, Technical Skills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Finishing: 15, Passing: 14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6600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Mental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Hardworking, Determination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Hardworking: 12, Determination: 13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6600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Physical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Speed, Strength, </a:t>
                      </a:r>
                      <a:r>
                        <a:rPr lang="en-US" sz="1000" dirty="0" err="1" smtClean="0">
                          <a:effectLst/>
                        </a:rPr>
                        <a:t>Enduranc</a:t>
                      </a:r>
                      <a:r>
                        <a:rPr lang="tr-TR" sz="1000" dirty="0" smtClean="0">
                          <a:effectLst/>
                        </a:rPr>
                        <a:t>e</a:t>
                      </a:r>
                      <a:endParaRPr lang="tr-TR" sz="1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tr-TR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Speed: 17, Strength: 14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6600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General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Age, Height, Weight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Age: 25, Height: 180 cm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6600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Market Value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Transfermarkt Valuation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Value: €200 million</a:t>
                      </a:r>
                      <a:endParaRPr lang="tr-TR" sz="1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tr-TR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5" name="Dikdörtgen 4"/>
          <p:cNvSpPr/>
          <p:nvPr/>
        </p:nvSpPr>
        <p:spPr>
          <a:xfrm>
            <a:off x="3189460" y="476672"/>
            <a:ext cx="2811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2: Dataset Summary</a:t>
            </a:r>
            <a:endParaRPr lang="tr-TR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2271047" y="537321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12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sz="1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table provides an overview of the structured dataset, summarizing key attributes used in the study for performance evaluation and transfer value prediction.</a:t>
            </a:r>
            <a:endParaRPr lang="tr-T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710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o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752124"/>
              </p:ext>
            </p:extLst>
          </p:nvPr>
        </p:nvGraphicFramePr>
        <p:xfrm>
          <a:off x="2321496" y="908720"/>
          <a:ext cx="4896543" cy="38164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72416"/>
                <a:gridCol w="1115330"/>
                <a:gridCol w="1122293"/>
                <a:gridCol w="986504"/>
              </a:tblGrid>
              <a:tr h="10650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Model</a:t>
                      </a:r>
                      <a:endParaRPr lang="tr-TR" sz="1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tr-TR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MAE (in € millions)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MSE (in € millions)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R²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339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Linear Regression</a:t>
                      </a:r>
                      <a:endParaRPr lang="tr-TR" sz="1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tr-TR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20.0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400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tr-TR" sz="1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0.65</a:t>
                      </a:r>
                      <a:endParaRPr lang="tr-TR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339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Random Forest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16.5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260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0.72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339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Gradient Boosting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15.5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250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0.75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8495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Support Vector Regression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18.0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300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tr-TR" sz="1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0.70</a:t>
                      </a:r>
                      <a:endParaRPr lang="tr-TR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9" name="Dikdörtgen 8"/>
          <p:cNvSpPr/>
          <p:nvPr/>
        </p:nvSpPr>
        <p:spPr>
          <a:xfrm>
            <a:off x="2740091" y="332656"/>
            <a:ext cx="3818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3: Model Performance Metrics</a:t>
            </a:r>
            <a:endParaRPr lang="tr-TR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2483768" y="4941368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tr-T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highlight the importance of selecting algorithms that balance interpretability and predictive power.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powerful model turned out to be Gradient Boosting, which combined high accuracy with robustness to outliers.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figures and tables confirm the selected models aligning with the characteristics of the dataset, therefore providing a route to actionable insights in transfer value prediction.</a:t>
            </a:r>
          </a:p>
        </p:txBody>
      </p:sp>
    </p:spTree>
    <p:extLst>
      <p:ext uri="{BB962C8B-B14F-4D97-AF65-F5344CB8AC3E}">
        <p14:creationId xmlns:p14="http://schemas.microsoft.com/office/powerpoint/2010/main" val="3448537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531" y="1052736"/>
            <a:ext cx="5040560" cy="3096344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2339752" y="476672"/>
            <a:ext cx="43702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3: Real vs Predicted Transfer Value</a:t>
            </a:r>
            <a:endParaRPr lang="tr-TR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2411760" y="465313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is a scatter plot comparing the real values against the predicted values that give the accuracy of the model in predicting the market trend.</a:t>
            </a:r>
            <a:endParaRPr lang="tr-T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13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9" t="2783" r="7652" b="5996"/>
          <a:stretch/>
        </p:blipFill>
        <p:spPr bwMode="auto">
          <a:xfrm>
            <a:off x="2267744" y="1196752"/>
            <a:ext cx="4968552" cy="38164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Dikdörtgen 5"/>
          <p:cNvSpPr/>
          <p:nvPr/>
        </p:nvSpPr>
        <p:spPr>
          <a:xfrm>
            <a:off x="3203848" y="476672"/>
            <a:ext cx="2756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4: Feature Weights</a:t>
            </a:r>
            <a:endParaRPr lang="tr-TR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ikdörtgen 6"/>
          <p:cNvSpPr/>
          <p:nvPr/>
        </p:nvSpPr>
        <p:spPr>
          <a:xfrm>
            <a:off x="2483768" y="52292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pie chart showing the relative importance of features involved, such as Speed, Finishing, and Endurance in transfer value predictions. </a:t>
            </a:r>
            <a:endParaRPr lang="tr-T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950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2123728" y="47667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tr-TR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</a:t>
            </a:r>
            <a:r>
              <a:rPr lang="tr-TR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5: Clustering </a:t>
            </a:r>
            <a:r>
              <a:rPr lang="tr-TR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Players</a:t>
            </a:r>
            <a:r>
              <a:rPr lang="tr-TR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tr-TR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Finishing</a:t>
            </a:r>
            <a:r>
              <a:rPr lang="tr-TR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endParaRPr lang="tr-TR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Resim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428" y="1556792"/>
            <a:ext cx="5400600" cy="3312368"/>
          </a:xfrm>
          <a:prstGeom prst="rect">
            <a:avLst/>
          </a:prstGeom>
        </p:spPr>
      </p:pic>
      <p:sp>
        <p:nvSpPr>
          <p:cNvPr id="6" name="Dikdörtgen 5"/>
          <p:cNvSpPr/>
          <p:nvPr/>
        </p:nvSpPr>
        <p:spPr>
          <a:xfrm>
            <a:off x="2286000" y="5229200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scatter plot visualizing clusters based on Finishing and Speed metrics.</a:t>
            </a:r>
            <a:endParaRPr lang="tr-T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928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836340"/>
              </p:ext>
            </p:extLst>
          </p:nvPr>
        </p:nvGraphicFramePr>
        <p:xfrm>
          <a:off x="360208" y="1340768"/>
          <a:ext cx="8388255" cy="30963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99340"/>
                <a:gridCol w="2888915"/>
              </a:tblGrid>
              <a:tr h="4860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spc="10" dirty="0">
                          <a:effectLst/>
                        </a:rPr>
                        <a:t>Metric</a:t>
                      </a:r>
                      <a:endParaRPr lang="tr-TR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spc="10">
                          <a:effectLst/>
                        </a:rPr>
                        <a:t>Value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1523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spc="1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spc="10">
                          <a:effectLst/>
                        </a:rPr>
                        <a:t>Mean Absolute Error (MAE)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€ 18.60 million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860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spc="10">
                          <a:effectLst/>
                        </a:rPr>
                        <a:t>R-squared </a:t>
                      </a:r>
                      <a:r>
                        <a:rPr lang="en-US" sz="1000">
                          <a:effectLst/>
                        </a:rPr>
                        <a:t>(R²)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spc="10">
                          <a:effectLst/>
                        </a:rPr>
                        <a:t>0.75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860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spc="10">
                          <a:effectLst/>
                        </a:rPr>
                        <a:t>Training Dataset Size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spc="10">
                          <a:effectLst/>
                        </a:rPr>
                        <a:t>400 players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860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spc="10">
                          <a:effectLst/>
                        </a:rPr>
                        <a:t>Testing Dataset Size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spc="10" dirty="0">
                          <a:effectLst/>
                        </a:rPr>
                        <a:t>100 players</a:t>
                      </a:r>
                      <a:endParaRPr lang="tr-TR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Dikdörtgen 4"/>
          <p:cNvSpPr/>
          <p:nvPr/>
        </p:nvSpPr>
        <p:spPr>
          <a:xfrm>
            <a:off x="3202439" y="620688"/>
            <a:ext cx="26068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4: Summary Table</a:t>
            </a:r>
            <a:endParaRPr lang="tr-TR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835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0760079"/>
              </p:ext>
            </p:extLst>
          </p:nvPr>
        </p:nvGraphicFramePr>
        <p:xfrm>
          <a:off x="2372926" y="1340768"/>
          <a:ext cx="4556781" cy="36321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9447"/>
                <a:gridCol w="1346298"/>
                <a:gridCol w="1191036"/>
              </a:tblGrid>
              <a:tr h="9114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Algorithms</a:t>
                      </a:r>
                      <a:endParaRPr lang="tr-TR" sz="1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tr-TR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tr-TR" sz="1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MAE (in € millions)</a:t>
                      </a:r>
                      <a:endParaRPr lang="tr-TR" sz="1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tr-TR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  R²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6801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Linear Regression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22.45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0.12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6801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Random Forest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18.60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0.17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801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Gradient Boosting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15.50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0.25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801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Support Vector Regression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20.30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tr-TR" sz="1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0.10</a:t>
                      </a:r>
                      <a:endParaRPr lang="tr-TR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Dikdörtgen 4"/>
          <p:cNvSpPr/>
          <p:nvPr/>
        </p:nvSpPr>
        <p:spPr>
          <a:xfrm>
            <a:off x="3117243" y="639797"/>
            <a:ext cx="3068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5: Performance Matrix</a:t>
            </a:r>
            <a:endParaRPr lang="tr-TR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2365317" y="5229200"/>
            <a:ext cx="4572000" cy="123110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</a:t>
            </a:r>
            <a:endParaRPr lang="tr-T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employing the Random Forest, the most influential features for the prediction of transfer values have been determined as:</a:t>
            </a:r>
            <a:endParaRPr lang="tr-T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Metrics: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Finishing and Passing.</a:t>
            </a:r>
            <a:endParaRPr lang="tr-T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tr-T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Metrics: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Speed and Endurance.</a:t>
            </a:r>
            <a:endParaRPr lang="tr-T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882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340768"/>
            <a:ext cx="5472608" cy="3168352"/>
          </a:xfrm>
          <a:prstGeom prst="rect">
            <a:avLst/>
          </a:prstGeom>
        </p:spPr>
      </p:pic>
      <p:sp>
        <p:nvSpPr>
          <p:cNvPr id="7" name="Dikdörtgen 6"/>
          <p:cNvSpPr/>
          <p:nvPr/>
        </p:nvSpPr>
        <p:spPr>
          <a:xfrm>
            <a:off x="2213992" y="40466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6: Feature Importance in Random Forest </a:t>
            </a:r>
            <a:endParaRPr lang="tr-TR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2213992" y="479715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bar chart shows the contribution of each feature to transfer value prediction, stressing Technical and Physical attributes as important.</a:t>
            </a:r>
            <a:r>
              <a:rPr lang="en-US" dirty="0"/>
              <a:t/>
            </a:r>
            <a:br>
              <a:rPr lang="en-US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07030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7479603"/>
              </p:ext>
            </p:extLst>
          </p:nvPr>
        </p:nvGraphicFramePr>
        <p:xfrm>
          <a:off x="2267744" y="1124744"/>
          <a:ext cx="4536502" cy="37533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7374"/>
                <a:gridCol w="965025"/>
                <a:gridCol w="965025"/>
                <a:gridCol w="943428"/>
                <a:gridCol w="555650"/>
              </a:tblGrid>
              <a:tr h="13186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Algorithms</a:t>
                      </a:r>
                      <a:endParaRPr lang="tr-TR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 Impact Features Accuracy (%)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tr-TR" sz="1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Low</a:t>
                      </a:r>
                      <a:endParaRPr lang="tr-TR" sz="1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Impact Features Accuracy (%)</a:t>
                      </a:r>
                      <a:endParaRPr lang="tr-TR" sz="1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tr-TR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MAE (in € millions)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R²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61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Linear Regression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65%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45%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22.45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0.12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61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Random Forest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78%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60%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18.60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0.17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61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Gradient Boosting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85%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70%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15.50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0.25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7491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Support Vector Regression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60%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50%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tr-TR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20.30</a:t>
                      </a:r>
                      <a:endParaRPr lang="tr-TR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tr-TR" sz="1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0.10</a:t>
                      </a:r>
                      <a:endParaRPr lang="tr-TR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Dikdörtgen 4"/>
          <p:cNvSpPr/>
          <p:nvPr/>
        </p:nvSpPr>
        <p:spPr>
          <a:xfrm>
            <a:off x="2915816" y="404664"/>
            <a:ext cx="3068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6: Performance Matrix</a:t>
            </a:r>
            <a:endParaRPr lang="tr-TR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299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674" y="1196752"/>
            <a:ext cx="5688632" cy="3888432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2267744" y="711624"/>
            <a:ext cx="46524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7: Actual vs Predicted Transfer Values</a:t>
            </a:r>
            <a:endParaRPr lang="tr-TR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2411760" y="5229200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tr-T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predictions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closely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aligned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showing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minimal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deviation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exhibited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greater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variation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captured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trends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effectively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936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568" y="1168208"/>
            <a:ext cx="5738863" cy="4178205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2286000" y="54868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8: Feature Importance Analysis (Random Forest)</a:t>
            </a:r>
            <a:endParaRPr lang="tr-TR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2483768" y="5571764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tr-T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Finishing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the most influential features.</a:t>
            </a:r>
            <a:endParaRPr lang="tr-T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Endurance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had a relatively lower impact on predictions.</a:t>
            </a:r>
            <a:endParaRPr lang="tr-T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978777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638</Words>
  <Application>Microsoft Office PowerPoint</Application>
  <PresentationFormat>Ekran Gösterisi (4:3)</PresentationFormat>
  <Paragraphs>240</Paragraphs>
  <Slides>14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5" baseType="lpstr"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Administrator</dc:creator>
  <cp:lastModifiedBy>Windows Kullanıcısı</cp:lastModifiedBy>
  <cp:revision>7</cp:revision>
  <dcterms:created xsi:type="dcterms:W3CDTF">2025-01-08T11:47:21Z</dcterms:created>
  <dcterms:modified xsi:type="dcterms:W3CDTF">2025-01-08T12:46:12Z</dcterms:modified>
</cp:coreProperties>
</file>