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5" d="100"/>
          <a:sy n="95" d="100"/>
        </p:scale>
        <p:origin x="-1090"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tr-T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tr-TR"/>
              <a:t>Figure</a:t>
            </a:r>
            <a:r>
              <a:rPr lang="tr-TR" baseline="0"/>
              <a:t> 2</a:t>
            </a:r>
          </a:p>
        </c:rich>
      </c:tx>
      <c:layout/>
      <c:overlay val="0"/>
    </c:title>
    <c:autoTitleDeleted val="0"/>
    <c:plotArea>
      <c:layout/>
      <c:barChart>
        <c:barDir val="col"/>
        <c:grouping val="clustered"/>
        <c:varyColors val="0"/>
        <c:ser>
          <c:idx val="0"/>
          <c:order val="0"/>
          <c:tx>
            <c:strRef>
              <c:f>Sayfa1!$B$1</c:f>
              <c:strCache>
                <c:ptCount val="1"/>
                <c:pt idx="0">
                  <c:v>Seri 1</c:v>
                </c:pt>
              </c:strCache>
            </c:strRef>
          </c:tx>
          <c:invertIfNegative val="0"/>
          <c:cat>
            <c:strRef>
              <c:f>Sayfa1!$A$2:$A$4</c:f>
              <c:strCache>
                <c:ptCount val="3"/>
                <c:pt idx="0">
                  <c:v>Player 1</c:v>
                </c:pt>
                <c:pt idx="1">
                  <c:v>Player 2</c:v>
                </c:pt>
                <c:pt idx="2">
                  <c:v>Player 3</c:v>
                </c:pt>
              </c:strCache>
            </c:strRef>
          </c:cat>
          <c:val>
            <c:numRef>
              <c:f>Sayfa1!$B$2:$B$4</c:f>
              <c:numCache>
                <c:formatCode>General</c:formatCode>
                <c:ptCount val="3"/>
                <c:pt idx="0">
                  <c:v>35</c:v>
                </c:pt>
                <c:pt idx="1">
                  <c:v>30</c:v>
                </c:pt>
                <c:pt idx="2">
                  <c:v>45</c:v>
                </c:pt>
              </c:numCache>
            </c:numRef>
          </c:val>
        </c:ser>
        <c:dLbls>
          <c:showLegendKey val="0"/>
          <c:showVal val="0"/>
          <c:showCatName val="0"/>
          <c:showSerName val="0"/>
          <c:showPercent val="0"/>
          <c:showBubbleSize val="0"/>
        </c:dLbls>
        <c:gapWidth val="150"/>
        <c:axId val="186710656"/>
        <c:axId val="180173056"/>
      </c:barChart>
      <c:catAx>
        <c:axId val="186710656"/>
        <c:scaling>
          <c:orientation val="minMax"/>
        </c:scaling>
        <c:delete val="0"/>
        <c:axPos val="b"/>
        <c:title>
          <c:tx>
            <c:rich>
              <a:bodyPr/>
              <a:lstStyle/>
              <a:p>
                <a:pPr>
                  <a:defRPr/>
                </a:pPr>
                <a:r>
                  <a:rPr lang="tr-TR" sz="1400" b="0"/>
                  <a:t>Players</a:t>
                </a:r>
              </a:p>
            </c:rich>
          </c:tx>
          <c:layout/>
          <c:overlay val="0"/>
        </c:title>
        <c:majorTickMark val="out"/>
        <c:minorTickMark val="none"/>
        <c:tickLblPos val="nextTo"/>
        <c:crossAx val="180173056"/>
        <c:crosses val="autoZero"/>
        <c:auto val="1"/>
        <c:lblAlgn val="ctr"/>
        <c:lblOffset val="100"/>
        <c:noMultiLvlLbl val="0"/>
      </c:catAx>
      <c:valAx>
        <c:axId val="180173056"/>
        <c:scaling>
          <c:orientation val="minMax"/>
        </c:scaling>
        <c:delete val="0"/>
        <c:axPos val="l"/>
        <c:majorGridlines/>
        <c:title>
          <c:tx>
            <c:rich>
              <a:bodyPr rot="-5400000" vert="horz"/>
              <a:lstStyle/>
              <a:p>
                <a:pPr>
                  <a:defRPr/>
                </a:pPr>
                <a:r>
                  <a:rPr lang="tr-TR" sz="1400" b="0" i="0" u="none" strike="noStrike" baseline="0">
                    <a:effectLst/>
                  </a:rPr>
                  <a:t>Estimated Transfer Values (in million €) </a:t>
                </a:r>
                <a:endParaRPr lang="tr-TR" sz="1400" b="0"/>
              </a:p>
            </c:rich>
          </c:tx>
          <c:layout>
            <c:manualLayout>
              <c:xMode val="edge"/>
              <c:yMode val="edge"/>
              <c:x val="1.8518518518518517E-2"/>
              <c:y val="9.6834088123754075E-2"/>
            </c:manualLayout>
          </c:layout>
          <c:overlay val="0"/>
        </c:title>
        <c:numFmt formatCode="General" sourceLinked="1"/>
        <c:majorTickMark val="out"/>
        <c:minorTickMark val="none"/>
        <c:tickLblPos val="nextTo"/>
        <c:crossAx val="186710656"/>
        <c:crosses val="autoZero"/>
        <c:crossBetween val="between"/>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tr-T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tr-TR"/>
              <a:t>Figure</a:t>
            </a:r>
            <a:r>
              <a:rPr lang="tr-TR" baseline="0"/>
              <a:t> 1</a:t>
            </a:r>
          </a:p>
        </c:rich>
      </c:tx>
      <c:layout>
        <c:manualLayout>
          <c:xMode val="edge"/>
          <c:yMode val="edge"/>
          <c:x val="0.42692384928394017"/>
          <c:y val="0"/>
        </c:manualLayout>
      </c:layout>
      <c:overlay val="0"/>
    </c:title>
    <c:autoTitleDeleted val="0"/>
    <c:plotArea>
      <c:layout>
        <c:manualLayout>
          <c:layoutTarget val="inner"/>
          <c:xMode val="edge"/>
          <c:yMode val="edge"/>
          <c:x val="0.11457608906269266"/>
          <c:y val="8.2231532555756728E-2"/>
          <c:w val="0.77580263876411426"/>
          <c:h val="0.80871681511122584"/>
        </c:manualLayout>
      </c:layout>
      <c:barChart>
        <c:barDir val="col"/>
        <c:grouping val="clustered"/>
        <c:varyColors val="0"/>
        <c:ser>
          <c:idx val="0"/>
          <c:order val="0"/>
          <c:tx>
            <c:strRef>
              <c:f>Sayfa1!$B$1</c:f>
              <c:strCache>
                <c:ptCount val="1"/>
                <c:pt idx="0">
                  <c:v>Player 1</c:v>
                </c:pt>
              </c:strCache>
            </c:strRef>
          </c:tx>
          <c:invertIfNegative val="0"/>
          <c:cat>
            <c:strRef>
              <c:f>Sayfa1!$A$2:$A$5</c:f>
              <c:strCache>
                <c:ptCount val="4"/>
                <c:pt idx="0">
                  <c:v>Finishing</c:v>
                </c:pt>
                <c:pt idx="1">
                  <c:v>Pass</c:v>
                </c:pt>
                <c:pt idx="2">
                  <c:v>Speed</c:v>
                </c:pt>
                <c:pt idx="3">
                  <c:v>Defensive Actions</c:v>
                </c:pt>
              </c:strCache>
            </c:strRef>
          </c:cat>
          <c:val>
            <c:numRef>
              <c:f>Sayfa1!$B$2:$B$5</c:f>
              <c:numCache>
                <c:formatCode>General</c:formatCode>
                <c:ptCount val="4"/>
                <c:pt idx="0">
                  <c:v>13</c:v>
                </c:pt>
                <c:pt idx="1">
                  <c:v>12</c:v>
                </c:pt>
                <c:pt idx="2">
                  <c:v>12</c:v>
                </c:pt>
                <c:pt idx="3">
                  <c:v>5</c:v>
                </c:pt>
              </c:numCache>
            </c:numRef>
          </c:val>
        </c:ser>
        <c:ser>
          <c:idx val="1"/>
          <c:order val="1"/>
          <c:tx>
            <c:strRef>
              <c:f>Sayfa1!$C$1</c:f>
              <c:strCache>
                <c:ptCount val="1"/>
                <c:pt idx="0">
                  <c:v>Player 2</c:v>
                </c:pt>
              </c:strCache>
            </c:strRef>
          </c:tx>
          <c:invertIfNegative val="0"/>
          <c:cat>
            <c:strRef>
              <c:f>Sayfa1!$A$2:$A$5</c:f>
              <c:strCache>
                <c:ptCount val="4"/>
                <c:pt idx="0">
                  <c:v>Finishing</c:v>
                </c:pt>
                <c:pt idx="1">
                  <c:v>Pass</c:v>
                </c:pt>
                <c:pt idx="2">
                  <c:v>Speed</c:v>
                </c:pt>
                <c:pt idx="3">
                  <c:v>Defensive Actions</c:v>
                </c:pt>
              </c:strCache>
            </c:strRef>
          </c:cat>
          <c:val>
            <c:numRef>
              <c:f>Sayfa1!$C$2:$C$5</c:f>
              <c:numCache>
                <c:formatCode>General</c:formatCode>
                <c:ptCount val="4"/>
                <c:pt idx="0">
                  <c:v>10</c:v>
                </c:pt>
                <c:pt idx="1">
                  <c:v>15</c:v>
                </c:pt>
                <c:pt idx="2">
                  <c:v>8</c:v>
                </c:pt>
                <c:pt idx="3">
                  <c:v>12</c:v>
                </c:pt>
              </c:numCache>
            </c:numRef>
          </c:val>
        </c:ser>
        <c:ser>
          <c:idx val="2"/>
          <c:order val="2"/>
          <c:tx>
            <c:strRef>
              <c:f>Sayfa1!$D$1</c:f>
              <c:strCache>
                <c:ptCount val="1"/>
                <c:pt idx="0">
                  <c:v>Player 3</c:v>
                </c:pt>
              </c:strCache>
            </c:strRef>
          </c:tx>
          <c:invertIfNegative val="0"/>
          <c:cat>
            <c:strRef>
              <c:f>Sayfa1!$A$2:$A$5</c:f>
              <c:strCache>
                <c:ptCount val="4"/>
                <c:pt idx="0">
                  <c:v>Finishing</c:v>
                </c:pt>
                <c:pt idx="1">
                  <c:v>Pass</c:v>
                </c:pt>
                <c:pt idx="2">
                  <c:v>Speed</c:v>
                </c:pt>
                <c:pt idx="3">
                  <c:v>Defensive Actions</c:v>
                </c:pt>
              </c:strCache>
            </c:strRef>
          </c:cat>
          <c:val>
            <c:numRef>
              <c:f>Sayfa1!$D$2:$D$5</c:f>
              <c:numCache>
                <c:formatCode>General</c:formatCode>
                <c:ptCount val="4"/>
                <c:pt idx="0">
                  <c:v>5</c:v>
                </c:pt>
                <c:pt idx="1">
                  <c:v>13</c:v>
                </c:pt>
                <c:pt idx="2">
                  <c:v>9</c:v>
                </c:pt>
                <c:pt idx="3">
                  <c:v>17</c:v>
                </c:pt>
              </c:numCache>
            </c:numRef>
          </c:val>
        </c:ser>
        <c:dLbls>
          <c:showLegendKey val="0"/>
          <c:showVal val="0"/>
          <c:showCatName val="0"/>
          <c:showSerName val="0"/>
          <c:showPercent val="0"/>
          <c:showBubbleSize val="0"/>
        </c:dLbls>
        <c:gapWidth val="150"/>
        <c:axId val="126866944"/>
        <c:axId val="126868864"/>
      </c:barChart>
      <c:catAx>
        <c:axId val="126866944"/>
        <c:scaling>
          <c:orientation val="minMax"/>
        </c:scaling>
        <c:delete val="0"/>
        <c:axPos val="b"/>
        <c:title>
          <c:tx>
            <c:rich>
              <a:bodyPr/>
              <a:lstStyle/>
              <a:p>
                <a:pPr>
                  <a:defRPr/>
                </a:pPr>
                <a:r>
                  <a:rPr lang="tr-TR" sz="1400" b="0"/>
                  <a:t>Player</a:t>
                </a:r>
                <a:r>
                  <a:rPr lang="tr-TR" sz="1400" b="0" baseline="0"/>
                  <a:t> Metrics</a:t>
                </a:r>
                <a:endParaRPr lang="tr-TR" sz="1400" b="0"/>
              </a:p>
            </c:rich>
          </c:tx>
          <c:layout/>
          <c:overlay val="0"/>
        </c:title>
        <c:majorTickMark val="out"/>
        <c:minorTickMark val="none"/>
        <c:tickLblPos val="nextTo"/>
        <c:crossAx val="126868864"/>
        <c:crosses val="autoZero"/>
        <c:auto val="1"/>
        <c:lblAlgn val="ctr"/>
        <c:lblOffset val="100"/>
        <c:noMultiLvlLbl val="0"/>
      </c:catAx>
      <c:valAx>
        <c:axId val="126868864"/>
        <c:scaling>
          <c:orientation val="minMax"/>
        </c:scaling>
        <c:delete val="0"/>
        <c:axPos val="l"/>
        <c:majorGridlines/>
        <c:title>
          <c:tx>
            <c:rich>
              <a:bodyPr rot="-5400000" vert="horz"/>
              <a:lstStyle/>
              <a:p>
                <a:pPr marL="0" marR="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ysClr val="windowText" lastClr="000000"/>
                    </a:solidFill>
                    <a:latin typeface="+mn-lt"/>
                    <a:ea typeface="+mn-ea"/>
                    <a:cs typeface="+mn-cs"/>
                  </a:defRPr>
                </a:pPr>
                <a:r>
                  <a:rPr lang="tr-TR" sz="1400" b="0"/>
                  <a:t>Comparison of Player Performance Metrics (Out of 20)</a:t>
                </a:r>
              </a:p>
            </c:rich>
          </c:tx>
          <c:layout/>
          <c:overlay val="0"/>
        </c:title>
        <c:numFmt formatCode="General" sourceLinked="1"/>
        <c:majorTickMark val="out"/>
        <c:minorTickMark val="none"/>
        <c:tickLblPos val="nextTo"/>
        <c:crossAx val="126866944"/>
        <c:crosses val="autoZero"/>
        <c:crossBetween val="between"/>
      </c:valAx>
      <c:spPr>
        <a:noFill/>
        <a:ln>
          <a:noFill/>
        </a:ln>
        <a:effectLst>
          <a:glow>
            <a:schemeClr val="accent1"/>
          </a:glow>
          <a:outerShdw sx="1000" sy="1000" algn="ctr" rotWithShape="0">
            <a:srgbClr val="000000"/>
          </a:outerShdw>
        </a:effectLst>
      </c:spPr>
    </c:plotArea>
    <c:legend>
      <c:legendPos val="r"/>
      <c:layout/>
      <c:overlay val="0"/>
    </c:legend>
    <c:plotVisOnly val="1"/>
    <c:dispBlanksAs val="gap"/>
    <c:showDLblsOverMax val="0"/>
  </c:chart>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3 Veri Yer Tutucusu"/>
          <p:cNvSpPr>
            <a:spLocks noGrp="1"/>
          </p:cNvSpPr>
          <p:nvPr>
            <p:ph type="dt" sz="half" idx="10"/>
          </p:nvPr>
        </p:nvSpPr>
        <p:spPr/>
        <p:txBody>
          <a:bodyPr/>
          <a:lstStyle/>
          <a:p>
            <a:fld id="{A23720DD-5B6D-40BF-8493-A6B52D484E6B}" type="datetimeFigureOut">
              <a:rPr lang="tr-TR" smtClean="0"/>
              <a:t>8.01.2025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A23720DD-5B6D-40BF-8493-A6B52D484E6B}" type="datetimeFigureOut">
              <a:rPr lang="tr-TR" smtClean="0"/>
              <a:t>8.01.2025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3 Veri Yer Tutucusu"/>
          <p:cNvSpPr>
            <a:spLocks noGrp="1"/>
          </p:cNvSpPr>
          <p:nvPr>
            <p:ph type="dt" sz="half" idx="10"/>
          </p:nvPr>
        </p:nvSpPr>
        <p:spPr/>
        <p:txBody>
          <a:bodyPr/>
          <a:lstStyle/>
          <a:p>
            <a:fld id="{A23720DD-5B6D-40BF-8493-A6B52D484E6B}" type="datetimeFigureOut">
              <a:rPr lang="tr-TR" smtClean="0"/>
              <a:t>8.01.2025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Veri Yer Tutucusu"/>
          <p:cNvSpPr>
            <a:spLocks noGrp="1"/>
          </p:cNvSpPr>
          <p:nvPr>
            <p:ph type="dt" sz="half" idx="10"/>
          </p:nvPr>
        </p:nvSpPr>
        <p:spPr/>
        <p:txBody>
          <a:bodyPr/>
          <a:lstStyle/>
          <a:p>
            <a:fld id="{A23720DD-5B6D-40BF-8493-A6B52D484E6B}" type="datetimeFigureOut">
              <a:rPr lang="tr-TR" smtClean="0"/>
              <a:t>8.01.2025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6 Veri Yer Tutucusu"/>
          <p:cNvSpPr>
            <a:spLocks noGrp="1"/>
          </p:cNvSpPr>
          <p:nvPr>
            <p:ph type="dt" sz="half" idx="10"/>
          </p:nvPr>
        </p:nvSpPr>
        <p:spPr/>
        <p:txBody>
          <a:bodyPr/>
          <a:lstStyle/>
          <a:p>
            <a:fld id="{A23720DD-5B6D-40BF-8493-A6B52D484E6B}" type="datetimeFigureOut">
              <a:rPr lang="tr-TR" smtClean="0"/>
              <a:t>8.01.2025</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p>
            <a:fld id="{A23720DD-5B6D-40BF-8493-A6B52D484E6B}" type="datetimeFigureOut">
              <a:rPr lang="tr-TR" smtClean="0"/>
              <a:t>8.01.2025</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A23720DD-5B6D-40BF-8493-A6B52D484E6B}" type="datetimeFigureOut">
              <a:rPr lang="tr-TR" smtClean="0"/>
              <a:t>8.01.2025</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A23720DD-5B6D-40BF-8493-A6B52D484E6B}" type="datetimeFigureOut">
              <a:rPr lang="tr-TR" smtClean="0"/>
              <a:t>8.01.2025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A23720DD-5B6D-40BF-8493-A6B52D484E6B}" type="datetimeFigureOut">
              <a:rPr lang="tr-TR" smtClean="0"/>
              <a:t>8.01.2025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A23720DD-5B6D-40BF-8493-A6B52D484E6B}" type="datetimeFigureOut">
              <a:rPr lang="tr-TR" smtClean="0"/>
              <a:t>8.01.2025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A23720DD-5B6D-40BF-8493-A6B52D484E6B}" type="datetimeFigureOut">
              <a:rPr lang="tr-TR" smtClean="0"/>
              <a:t>8.01.2025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3720DD-5B6D-40BF-8493-A6B52D484E6B}" type="datetimeFigureOut">
              <a:rPr lang="tr-TR" smtClean="0"/>
              <a:t>8.01.2025</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02176B-0E47-46AC-8F43-DAB4B8A37D06}"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a:noAutofit/>
          </a:bodyPr>
          <a:lstStyle/>
          <a:p>
            <a:r>
              <a:rPr lang="en-US" sz="4000" b="1" dirty="0">
                <a:solidFill>
                  <a:schemeClr val="accent1"/>
                </a:solidFill>
                <a:latin typeface="Times New Roman" panose="02020603050405020304" pitchFamily="18" charset="0"/>
                <a:cs typeface="Times New Roman" panose="02020603050405020304" pitchFamily="18" charset="0"/>
              </a:rPr>
              <a:t>Analysis of Player Performance and Transfer Values with Machine Learning</a:t>
            </a:r>
            <a:endParaRPr lang="tr-TR" sz="4000" b="1" dirty="0">
              <a:solidFill>
                <a:schemeClr val="accent1"/>
              </a:solidFill>
              <a:latin typeface="Times New Roman" panose="02020603050405020304" pitchFamily="18" charset="0"/>
              <a:cs typeface="Times New Roman" panose="02020603050405020304" pitchFamily="18" charset="0"/>
            </a:endParaRPr>
          </a:p>
        </p:txBody>
      </p:sp>
      <p:sp>
        <p:nvSpPr>
          <p:cNvPr id="3" name="Metin kutusu 2"/>
          <p:cNvSpPr txBox="1"/>
          <p:nvPr/>
        </p:nvSpPr>
        <p:spPr>
          <a:xfrm>
            <a:off x="1835696" y="4733909"/>
            <a:ext cx="5086905" cy="369332"/>
          </a:xfrm>
          <a:prstGeom prst="rect">
            <a:avLst/>
          </a:prstGeom>
          <a:noFill/>
        </p:spPr>
        <p:txBody>
          <a:bodyPr wrap="none" rtlCol="0">
            <a:spAutoFit/>
          </a:bodyPr>
          <a:lstStyle/>
          <a:p>
            <a:r>
              <a:rPr lang="tr-TR" dirty="0"/>
              <a:t>https://www.youtube.com/watch?v=rpOWPyQlMn8</a:t>
            </a:r>
          </a:p>
        </p:txBody>
      </p:sp>
    </p:spTree>
    <p:extLst>
      <p:ext uri="{BB962C8B-B14F-4D97-AF65-F5344CB8AC3E}">
        <p14:creationId xmlns:p14="http://schemas.microsoft.com/office/powerpoint/2010/main" val="40462718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4000" b="1" dirty="0" smtClean="0">
                <a:solidFill>
                  <a:schemeClr val="accent1"/>
                </a:solidFill>
                <a:latin typeface="Times New Roman" panose="02020603050405020304" pitchFamily="18" charset="0"/>
                <a:cs typeface="Times New Roman" panose="02020603050405020304" pitchFamily="18" charset="0"/>
              </a:rPr>
              <a:t>Problem Statement</a:t>
            </a:r>
            <a:endParaRPr lang="tr-TR" sz="4000" b="1" dirty="0">
              <a:solidFill>
                <a:schemeClr val="accent1"/>
              </a:solidFill>
              <a:latin typeface="Times New Roman" panose="02020603050405020304" pitchFamily="18" charset="0"/>
              <a:cs typeface="Times New Roman" panose="02020603050405020304" pitchFamily="18" charset="0"/>
            </a:endParaRPr>
          </a:p>
        </p:txBody>
      </p:sp>
      <p:sp>
        <p:nvSpPr>
          <p:cNvPr id="3" name="İçerik Yer Tutucusu 2"/>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Traditional professional football typically based its decisions of transfer value on subjective estimation and very basic statistical procedures. It is in most cases a method lacking in accuracy, as it cannot fully account for the complexity of the </a:t>
            </a:r>
            <a:r>
              <a:rPr lang="tr-TR" sz="2000" dirty="0" err="1" smtClean="0">
                <a:latin typeface="Times New Roman" panose="02020603050405020304" pitchFamily="18" charset="0"/>
                <a:cs typeface="Times New Roman" panose="02020603050405020304" pitchFamily="18" charset="0"/>
              </a:rPr>
              <a:t>features</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 a player and market dynamics</a:t>
            </a:r>
            <a:r>
              <a:rPr lang="en-US" sz="2000" dirty="0" smtClean="0">
                <a:latin typeface="Times New Roman" panose="02020603050405020304" pitchFamily="18" charset="0"/>
                <a:cs typeface="Times New Roman" panose="02020603050405020304" pitchFamily="18" charset="0"/>
              </a:rPr>
              <a:t>.</a:t>
            </a:r>
            <a:r>
              <a:rPr lang="tr-TR" sz="2000"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Consequently</a:t>
            </a:r>
            <a:r>
              <a:rPr lang="en-US" sz="2000" dirty="0">
                <a:latin typeface="Times New Roman" panose="02020603050405020304" pitchFamily="18" charset="0"/>
                <a:cs typeface="Times New Roman" panose="02020603050405020304" pitchFamily="18" charset="0"/>
              </a:rPr>
              <a:t>, our work brings in machine learning to data-driven insights that will make better decisions upon player recruitment and financial planning.</a:t>
            </a:r>
            <a:endParaRPr lang="tr-T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27400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4000" b="1" dirty="0" err="1">
                <a:solidFill>
                  <a:schemeClr val="accent1"/>
                </a:solidFill>
                <a:latin typeface="Times New Roman" panose="02020603050405020304" pitchFamily="18" charset="0"/>
                <a:cs typeface="Times New Roman" panose="02020603050405020304" pitchFamily="18" charset="0"/>
              </a:rPr>
              <a:t>Objective</a:t>
            </a:r>
            <a:endParaRPr lang="tr-TR" sz="4000" b="1" dirty="0">
              <a:solidFill>
                <a:schemeClr val="accent1"/>
              </a:solidFill>
              <a:latin typeface="Times New Roman" panose="02020603050405020304" pitchFamily="18" charset="0"/>
              <a:cs typeface="Times New Roman" panose="02020603050405020304" pitchFamily="18" charset="0"/>
            </a:endParaRPr>
          </a:p>
        </p:txBody>
      </p:sp>
      <p:sp>
        <p:nvSpPr>
          <p:cNvPr id="3" name="İçerik Yer Tutucusu 2"/>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Developing machine learning models that can accurately predict football players' transfer </a:t>
            </a:r>
            <a:r>
              <a:rPr lang="tr-TR" sz="2000" dirty="0" err="1" smtClean="0">
                <a:latin typeface="Times New Roman" panose="02020603050405020304" pitchFamily="18" charset="0"/>
                <a:cs typeface="Times New Roman" panose="02020603050405020304" pitchFamily="18" charset="0"/>
              </a:rPr>
              <a:t>values</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based on their technical, physical, and mental performance metrics as well as market-related factors is the primary objective of this project.</a:t>
            </a:r>
            <a:endParaRPr lang="tr-TR" sz="2000" dirty="0">
              <a:latin typeface="Times New Roman" panose="02020603050405020304" pitchFamily="18" charset="0"/>
              <a:cs typeface="Times New Roman" panose="02020603050405020304" pitchFamily="18" charset="0"/>
            </a:endParaRPr>
          </a:p>
        </p:txBody>
      </p:sp>
      <p:graphicFrame>
        <p:nvGraphicFramePr>
          <p:cNvPr id="4" name="Grafik 3"/>
          <p:cNvGraphicFramePr/>
          <p:nvPr>
            <p:extLst>
              <p:ext uri="{D42A27DB-BD31-4B8C-83A1-F6EECF244321}">
                <p14:modId xmlns:p14="http://schemas.microsoft.com/office/powerpoint/2010/main" val="1009012492"/>
              </p:ext>
            </p:extLst>
          </p:nvPr>
        </p:nvGraphicFramePr>
        <p:xfrm>
          <a:off x="1835696" y="2924944"/>
          <a:ext cx="5486400" cy="38023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515934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899592" y="0"/>
            <a:ext cx="7272808" cy="664659"/>
          </a:xfrm>
        </p:spPr>
        <p:txBody>
          <a:bodyPr>
            <a:normAutofit fontScale="90000"/>
          </a:bodyPr>
          <a:lstStyle/>
          <a:p>
            <a:r>
              <a:rPr lang="tr-TR" sz="4000" b="1" dirty="0" err="1">
                <a:solidFill>
                  <a:schemeClr val="accent1"/>
                </a:solidFill>
                <a:latin typeface="Times New Roman" panose="02020603050405020304" pitchFamily="18" charset="0"/>
                <a:cs typeface="Times New Roman" panose="02020603050405020304" pitchFamily="18" charset="0"/>
              </a:rPr>
              <a:t>Methodology</a:t>
            </a:r>
            <a:endParaRPr lang="tr-TR" sz="4000" b="1" dirty="0">
              <a:solidFill>
                <a:schemeClr val="accent1"/>
              </a:solidFill>
              <a:latin typeface="Times New Roman" panose="02020603050405020304" pitchFamily="18" charset="0"/>
              <a:cs typeface="Times New Roman" panose="02020603050405020304" pitchFamily="18" charset="0"/>
            </a:endParaRPr>
          </a:p>
        </p:txBody>
      </p:sp>
      <p:sp>
        <p:nvSpPr>
          <p:cNvPr id="3" name="İçerik Yer Tutucusu 2"/>
          <p:cNvSpPr>
            <a:spLocks noGrp="1"/>
          </p:cNvSpPr>
          <p:nvPr>
            <p:ph idx="1"/>
          </p:nvPr>
        </p:nvSpPr>
        <p:spPr>
          <a:xfrm>
            <a:off x="179512" y="620688"/>
            <a:ext cx="5040560" cy="4032448"/>
          </a:xfrm>
        </p:spPr>
        <p:txBody>
          <a:bodyPr>
            <a:noAutofit/>
          </a:bodyPr>
          <a:lstStyle/>
          <a:p>
            <a:pPr marL="0" indent="0">
              <a:buNone/>
            </a:pPr>
            <a:r>
              <a:rPr lang="en-US" sz="1600" b="1" dirty="0">
                <a:latin typeface="Times New Roman" panose="02020603050405020304" pitchFamily="18" charset="0"/>
                <a:cs typeface="Times New Roman" panose="02020603050405020304" pitchFamily="18" charset="0"/>
              </a:rPr>
              <a:t>Data Collection</a:t>
            </a:r>
            <a:r>
              <a:rPr lang="en-US" sz="1600" b="1" dirty="0" smtClean="0">
                <a:latin typeface="Times New Roman" panose="02020603050405020304" pitchFamily="18" charset="0"/>
                <a:cs typeface="Times New Roman" panose="02020603050405020304" pitchFamily="18" charset="0"/>
              </a:rPr>
              <a:t>:</a:t>
            </a:r>
            <a:endParaRPr lang="en-US" sz="1600" b="1" dirty="0">
              <a:latin typeface="Times New Roman" panose="02020603050405020304" pitchFamily="18" charset="0"/>
              <a:cs typeface="Times New Roman" panose="02020603050405020304" pitchFamily="18" charset="0"/>
            </a:endParaRPr>
          </a:p>
          <a:p>
            <a:r>
              <a:rPr lang="en-US" sz="1400" b="1" dirty="0" smtClean="0">
                <a:latin typeface="Times New Roman" panose="02020603050405020304" pitchFamily="18" charset="0"/>
                <a:cs typeface="Times New Roman" panose="02020603050405020304" pitchFamily="18" charset="0"/>
              </a:rPr>
              <a:t>Football </a:t>
            </a:r>
            <a:r>
              <a:rPr lang="en-US" sz="1400" b="1" dirty="0">
                <a:latin typeface="Times New Roman" panose="02020603050405020304" pitchFamily="18" charset="0"/>
                <a:cs typeface="Times New Roman" panose="02020603050405020304" pitchFamily="18" charset="0"/>
              </a:rPr>
              <a:t>Manager 2024 </a:t>
            </a:r>
            <a:r>
              <a:rPr lang="en-US" sz="1400" dirty="0">
                <a:latin typeface="Times New Roman" panose="02020603050405020304" pitchFamily="18" charset="0"/>
                <a:cs typeface="Times New Roman" panose="02020603050405020304" pitchFamily="18" charset="0"/>
              </a:rPr>
              <a:t>offered performance metrics, and </a:t>
            </a:r>
            <a:r>
              <a:rPr lang="en-US" sz="1400" b="1" dirty="0" err="1">
                <a:latin typeface="Times New Roman" panose="02020603050405020304" pitchFamily="18" charset="0"/>
                <a:cs typeface="Times New Roman" panose="02020603050405020304" pitchFamily="18" charset="0"/>
              </a:rPr>
              <a:t>Transfermarkt</a:t>
            </a:r>
            <a:r>
              <a:rPr lang="en-US" sz="1400" dirty="0">
                <a:latin typeface="Times New Roman" panose="02020603050405020304" pitchFamily="18" charset="0"/>
                <a:cs typeface="Times New Roman" panose="02020603050405020304" pitchFamily="18" charset="0"/>
              </a:rPr>
              <a:t> offered market valuations.</a:t>
            </a:r>
          </a:p>
          <a:p>
            <a:r>
              <a:rPr lang="en-US" sz="1400" dirty="0">
                <a:latin typeface="Times New Roman" panose="02020603050405020304" pitchFamily="18" charset="0"/>
                <a:cs typeface="Times New Roman" panose="02020603050405020304" pitchFamily="18" charset="0"/>
              </a:rPr>
              <a:t>The measures were separated into four categories: general, mental, physical, and technical.</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Algorithms Used</a:t>
            </a:r>
            <a:r>
              <a:rPr lang="en-US" sz="1600" b="1"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Linear regression </a:t>
            </a:r>
            <a:r>
              <a:rPr lang="en-US" sz="1400" dirty="0">
                <a:latin typeface="Times New Roman" panose="02020603050405020304" pitchFamily="18" charset="0"/>
                <a:cs typeface="Times New Roman" panose="02020603050405020304" pitchFamily="18" charset="0"/>
              </a:rPr>
              <a:t>is utilized due to its ease of usage in linear relationships.</a:t>
            </a:r>
          </a:p>
          <a:p>
            <a:r>
              <a:rPr lang="en-US" sz="1400" b="1" dirty="0">
                <a:latin typeface="Times New Roman" panose="02020603050405020304" pitchFamily="18" charset="0"/>
                <a:cs typeface="Times New Roman" panose="02020603050405020304" pitchFamily="18" charset="0"/>
              </a:rPr>
              <a:t>Random Forest</a:t>
            </a:r>
            <a:r>
              <a:rPr lang="en-US" sz="1400" dirty="0">
                <a:latin typeface="Times New Roman" panose="02020603050405020304" pitchFamily="18" charset="0"/>
                <a:cs typeface="Times New Roman" panose="02020603050405020304" pitchFamily="18" charset="0"/>
              </a:rPr>
              <a:t>: It catches intricate non-linear patterns. </a:t>
            </a:r>
            <a:endParaRPr lang="tr-TR" sz="1400" dirty="0" smtClean="0">
              <a:latin typeface="Times New Roman" panose="02020603050405020304" pitchFamily="18" charset="0"/>
              <a:cs typeface="Times New Roman" panose="02020603050405020304" pitchFamily="18" charset="0"/>
            </a:endParaRPr>
          </a:p>
          <a:p>
            <a:r>
              <a:rPr lang="en-US" sz="1400" b="1" dirty="0" smtClean="0">
                <a:latin typeface="Times New Roman" panose="02020603050405020304" pitchFamily="18" charset="0"/>
                <a:cs typeface="Times New Roman" panose="02020603050405020304" pitchFamily="18" charset="0"/>
              </a:rPr>
              <a:t>Gradient </a:t>
            </a:r>
            <a:r>
              <a:rPr lang="en-US" sz="1400" b="1" dirty="0">
                <a:latin typeface="Times New Roman" panose="02020603050405020304" pitchFamily="18" charset="0"/>
                <a:cs typeface="Times New Roman" panose="02020603050405020304" pitchFamily="18" charset="0"/>
              </a:rPr>
              <a:t>Boosting</a:t>
            </a:r>
            <a:r>
              <a:rPr lang="en-US" sz="1400" dirty="0">
                <a:latin typeface="Times New Roman" panose="02020603050405020304" pitchFamily="18" charset="0"/>
                <a:cs typeface="Times New Roman" panose="02020603050405020304" pitchFamily="18" charset="0"/>
              </a:rPr>
              <a:t>: To give better performance in obtaining high accuracy. </a:t>
            </a:r>
            <a:endParaRPr lang="tr-TR" sz="1400" dirty="0" smtClean="0">
              <a:latin typeface="Times New Roman" panose="02020603050405020304" pitchFamily="18" charset="0"/>
              <a:cs typeface="Times New Roman" panose="02020603050405020304" pitchFamily="18" charset="0"/>
            </a:endParaRPr>
          </a:p>
          <a:p>
            <a:r>
              <a:rPr lang="en-US" sz="1400" b="1" dirty="0" smtClean="0">
                <a:latin typeface="Times New Roman" panose="02020603050405020304" pitchFamily="18" charset="0"/>
                <a:cs typeface="Times New Roman" panose="02020603050405020304" pitchFamily="18" charset="0"/>
              </a:rPr>
              <a:t>Support </a:t>
            </a:r>
            <a:r>
              <a:rPr lang="en-US" sz="1400" b="1" dirty="0">
                <a:latin typeface="Times New Roman" panose="02020603050405020304" pitchFamily="18" charset="0"/>
                <a:cs typeface="Times New Roman" panose="02020603050405020304" pitchFamily="18" charset="0"/>
              </a:rPr>
              <a:t>Vector Regression</a:t>
            </a:r>
            <a:r>
              <a:rPr lang="en-US" sz="1400" dirty="0">
                <a:latin typeface="Times New Roman" panose="02020603050405020304" pitchFamily="18" charset="0"/>
                <a:cs typeface="Times New Roman" panose="02020603050405020304" pitchFamily="18" charset="0"/>
              </a:rPr>
              <a:t>: It gives good results where the analysis is to be made accurate at borders</a:t>
            </a:r>
            <a:r>
              <a:rPr lang="en-US" sz="1400" dirty="0" smtClean="0">
                <a:latin typeface="Times New Roman" panose="02020603050405020304" pitchFamily="18" charset="0"/>
                <a:cs typeface="Times New Roman" panose="02020603050405020304" pitchFamily="18" charset="0"/>
              </a:rPr>
              <a:t>.</a:t>
            </a:r>
            <a:endParaRPr lang="tr-TR" sz="1400" dirty="0" smtClean="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Statistical Functions</a:t>
            </a:r>
            <a:r>
              <a:rPr lang="en-US" sz="1600" b="1" dirty="0" smtClean="0">
                <a:latin typeface="Times New Roman" panose="02020603050405020304" pitchFamily="18" charset="0"/>
                <a:cs typeface="Times New Roman" panose="02020603050405020304" pitchFamily="18" charset="0"/>
              </a:rPr>
              <a:t>:</a:t>
            </a:r>
            <a:endParaRPr lang="tr-TR" sz="1600" b="1" dirty="0" smtClean="0">
              <a:latin typeface="Times New Roman" panose="02020603050405020304" pitchFamily="18" charset="0"/>
              <a:cs typeface="Times New Roman" panose="02020603050405020304" pitchFamily="18" charset="0"/>
            </a:endParaRPr>
          </a:p>
          <a:p>
            <a:r>
              <a:rPr lang="en-US" sz="1400" dirty="0" smtClean="0">
                <a:latin typeface="Times New Roman" panose="02020603050405020304" pitchFamily="18" charset="0"/>
                <a:cs typeface="Times New Roman" panose="02020603050405020304" pitchFamily="18" charset="0"/>
              </a:rPr>
              <a:t>The </a:t>
            </a:r>
            <a:r>
              <a:rPr lang="en-US" sz="1400" dirty="0">
                <a:latin typeface="Times New Roman" panose="02020603050405020304" pitchFamily="18" charset="0"/>
                <a:cs typeface="Times New Roman" panose="02020603050405020304" pitchFamily="18" charset="0"/>
              </a:rPr>
              <a:t>accuracy of the model is determined by the Mean Absolute Error (MAE) and the R-Squared defined as R². </a:t>
            </a:r>
            <a:endParaRPr lang="tr-TR" sz="1400" dirty="0" smtClean="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Techniques</a:t>
            </a:r>
            <a:r>
              <a:rPr lang="en-US" sz="1600" b="1" dirty="0" smtClean="0">
                <a:latin typeface="Times New Roman" panose="02020603050405020304" pitchFamily="18" charset="0"/>
                <a:cs typeface="Times New Roman" panose="02020603050405020304" pitchFamily="18" charset="0"/>
              </a:rPr>
              <a:t>:</a:t>
            </a:r>
            <a:endParaRPr lang="tr-TR" sz="1600" b="1" dirty="0" smtClean="0">
              <a:latin typeface="Times New Roman" panose="02020603050405020304" pitchFamily="18" charset="0"/>
              <a:cs typeface="Times New Roman" panose="02020603050405020304" pitchFamily="18" charset="0"/>
            </a:endParaRPr>
          </a:p>
          <a:p>
            <a:r>
              <a:rPr lang="en-US" sz="1400" dirty="0" smtClean="0">
                <a:latin typeface="Times New Roman" panose="02020603050405020304" pitchFamily="18" charset="0"/>
                <a:cs typeface="Times New Roman" panose="02020603050405020304" pitchFamily="18" charset="0"/>
              </a:rPr>
              <a:t>Pre-processing</a:t>
            </a:r>
            <a:r>
              <a:rPr lang="en-US" sz="1400" dirty="0">
                <a:latin typeface="Times New Roman" panose="02020603050405020304" pitchFamily="18" charset="0"/>
                <a:cs typeface="Times New Roman" panose="02020603050405020304" pitchFamily="18" charset="0"/>
              </a:rPr>
              <a:t>: Cleaning the data, scaling, and division into training and test sets; by analyzing feature importance, one is able to observe what factors affect transfer values.</a:t>
            </a:r>
            <a:endParaRPr lang="tr-TR" sz="1400" dirty="0">
              <a:latin typeface="Times New Roman" panose="02020603050405020304" pitchFamily="18" charset="0"/>
              <a:cs typeface="Times New Roman" panose="02020603050405020304" pitchFamily="18" charset="0"/>
            </a:endParaRPr>
          </a:p>
        </p:txBody>
      </p:sp>
      <p:graphicFrame>
        <p:nvGraphicFramePr>
          <p:cNvPr id="4" name="Grafik 3" title="Comparision of Player Performance Metrics (Out of 20)"/>
          <p:cNvGraphicFramePr/>
          <p:nvPr>
            <p:extLst>
              <p:ext uri="{D42A27DB-BD31-4B8C-83A1-F6EECF244321}">
                <p14:modId xmlns:p14="http://schemas.microsoft.com/office/powerpoint/2010/main" val="3231332561"/>
              </p:ext>
            </p:extLst>
          </p:nvPr>
        </p:nvGraphicFramePr>
        <p:xfrm>
          <a:off x="5076056" y="1556792"/>
          <a:ext cx="4123365" cy="39791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495748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4000" b="1" dirty="0" err="1">
                <a:solidFill>
                  <a:schemeClr val="accent1"/>
                </a:solidFill>
                <a:latin typeface="Times New Roman" panose="02020603050405020304" pitchFamily="18" charset="0"/>
                <a:cs typeface="Times New Roman" panose="02020603050405020304" pitchFamily="18" charset="0"/>
              </a:rPr>
              <a:t>Results</a:t>
            </a:r>
            <a:r>
              <a:rPr lang="tr-TR" sz="4000" b="1" dirty="0">
                <a:solidFill>
                  <a:schemeClr val="accent1"/>
                </a:solidFill>
                <a:latin typeface="Times New Roman" panose="02020603050405020304" pitchFamily="18" charset="0"/>
                <a:cs typeface="Times New Roman" panose="02020603050405020304" pitchFamily="18" charset="0"/>
              </a:rPr>
              <a:t> </a:t>
            </a:r>
            <a:r>
              <a:rPr lang="tr-TR" sz="4000" b="1" dirty="0" err="1">
                <a:solidFill>
                  <a:schemeClr val="accent1"/>
                </a:solidFill>
                <a:latin typeface="Times New Roman" panose="02020603050405020304" pitchFamily="18" charset="0"/>
                <a:cs typeface="Times New Roman" panose="02020603050405020304" pitchFamily="18" charset="0"/>
              </a:rPr>
              <a:t>and</a:t>
            </a:r>
            <a:r>
              <a:rPr lang="tr-TR" sz="4000" b="1" dirty="0">
                <a:solidFill>
                  <a:schemeClr val="accent1"/>
                </a:solidFill>
                <a:latin typeface="Times New Roman" panose="02020603050405020304" pitchFamily="18" charset="0"/>
                <a:cs typeface="Times New Roman" panose="02020603050405020304" pitchFamily="18" charset="0"/>
              </a:rPr>
              <a:t> </a:t>
            </a:r>
            <a:r>
              <a:rPr lang="tr-TR" sz="4000" b="1" dirty="0" err="1">
                <a:solidFill>
                  <a:schemeClr val="accent1"/>
                </a:solidFill>
                <a:latin typeface="Times New Roman" panose="02020603050405020304" pitchFamily="18" charset="0"/>
                <a:cs typeface="Times New Roman" panose="02020603050405020304" pitchFamily="18" charset="0"/>
              </a:rPr>
              <a:t>Outcomes</a:t>
            </a:r>
            <a:endParaRPr lang="tr-TR" sz="4000" b="1" dirty="0">
              <a:solidFill>
                <a:schemeClr val="accent1"/>
              </a:solidFill>
              <a:latin typeface="Times New Roman" panose="02020603050405020304" pitchFamily="18" charset="0"/>
              <a:cs typeface="Times New Roman" panose="02020603050405020304" pitchFamily="18" charset="0"/>
            </a:endParaRPr>
          </a:p>
        </p:txBody>
      </p:sp>
      <p:sp>
        <p:nvSpPr>
          <p:cNvPr id="3" name="İçerik Yer Tutucusu 2"/>
          <p:cNvSpPr>
            <a:spLocks noGrp="1"/>
          </p:cNvSpPr>
          <p:nvPr>
            <p:ph idx="1"/>
          </p:nvPr>
        </p:nvSpPr>
        <p:spPr>
          <a:xfrm>
            <a:off x="179512" y="1700808"/>
            <a:ext cx="5688632" cy="3456384"/>
          </a:xfrm>
        </p:spPr>
        <p:txBody>
          <a:bodyPr>
            <a:normAutofit/>
          </a:bodyPr>
          <a:lstStyle/>
          <a:p>
            <a:pPr marL="0" indent="0">
              <a:buNone/>
            </a:pPr>
            <a:r>
              <a:rPr lang="tr-TR" sz="2000" b="1" dirty="0">
                <a:latin typeface="Times New Roman" panose="02020603050405020304" pitchFamily="18" charset="0"/>
                <a:cs typeface="Times New Roman" panose="02020603050405020304" pitchFamily="18" charset="0"/>
              </a:rPr>
              <a:t>Best </a:t>
            </a:r>
            <a:r>
              <a:rPr lang="tr-TR" sz="2000" b="1" dirty="0" err="1">
                <a:latin typeface="Times New Roman" panose="02020603050405020304" pitchFamily="18" charset="0"/>
                <a:cs typeface="Times New Roman" panose="02020603050405020304" pitchFamily="18" charset="0"/>
              </a:rPr>
              <a:t>Performing</a:t>
            </a:r>
            <a:r>
              <a:rPr lang="tr-TR" sz="2000" b="1" dirty="0">
                <a:latin typeface="Times New Roman" panose="02020603050405020304" pitchFamily="18" charset="0"/>
                <a:cs typeface="Times New Roman" panose="02020603050405020304" pitchFamily="18" charset="0"/>
              </a:rPr>
              <a:t> Model</a:t>
            </a:r>
            <a:r>
              <a:rPr lang="tr-TR" sz="2000" dirty="0" smtClean="0">
                <a:latin typeface="Times New Roman" panose="02020603050405020304" pitchFamily="18" charset="0"/>
                <a:cs typeface="Times New Roman" panose="02020603050405020304" pitchFamily="18" charset="0"/>
              </a:rPr>
              <a:t>:</a:t>
            </a:r>
          </a:p>
          <a:p>
            <a:r>
              <a:rPr lang="tr-TR" sz="1800" dirty="0" err="1" smtClean="0">
                <a:latin typeface="Times New Roman" panose="02020603050405020304" pitchFamily="18" charset="0"/>
                <a:cs typeface="Times New Roman" panose="02020603050405020304" pitchFamily="18" charset="0"/>
              </a:rPr>
              <a:t>The</a:t>
            </a:r>
            <a:r>
              <a:rPr lang="tr-TR" sz="1800" dirty="0" smtClean="0">
                <a:latin typeface="Times New Roman" panose="02020603050405020304" pitchFamily="18" charset="0"/>
                <a:cs typeface="Times New Roman" panose="02020603050405020304" pitchFamily="18" charset="0"/>
              </a:rPr>
              <a:t> </a:t>
            </a:r>
            <a:r>
              <a:rPr lang="tr-TR" sz="1800" dirty="0" err="1" smtClean="0">
                <a:latin typeface="Times New Roman" panose="02020603050405020304" pitchFamily="18" charset="0"/>
                <a:cs typeface="Times New Roman" panose="02020603050405020304" pitchFamily="18" charset="0"/>
              </a:rPr>
              <a:t>best</a:t>
            </a:r>
            <a:r>
              <a:rPr lang="tr-TR" sz="1800" dirty="0" smtClean="0">
                <a:latin typeface="Times New Roman" panose="02020603050405020304" pitchFamily="18" charset="0"/>
                <a:cs typeface="Times New Roman" panose="02020603050405020304" pitchFamily="18" charset="0"/>
              </a:rPr>
              <a:t> model</a:t>
            </a:r>
            <a:r>
              <a:rPr lang="en-US" sz="1800" dirty="0" smtClean="0">
                <a:latin typeface="Times New Roman" panose="02020603050405020304" pitchFamily="18" charset="0"/>
                <a:cs typeface="Times New Roman" panose="02020603050405020304" pitchFamily="18" charset="0"/>
              </a:rPr>
              <a:t> was the Gradient Boosting, with the highest accuracy: MAE-€15.50 million and R² at 0.25.</a:t>
            </a:r>
            <a:endParaRPr lang="tr-TR" sz="1800" dirty="0" smtClean="0">
              <a:latin typeface="Times New Roman" panose="02020603050405020304" pitchFamily="18" charset="0"/>
              <a:cs typeface="Times New Roman" panose="02020603050405020304" pitchFamily="18" charset="0"/>
            </a:endParaRPr>
          </a:p>
          <a:p>
            <a:endParaRPr lang="en-US" sz="1800" dirty="0" smtClean="0">
              <a:latin typeface="Times New Roman" panose="02020603050405020304" pitchFamily="18" charset="0"/>
              <a:cs typeface="Times New Roman" panose="02020603050405020304" pitchFamily="18" charset="0"/>
            </a:endParaRPr>
          </a:p>
          <a:p>
            <a:pPr marL="0" indent="0">
              <a:buNone/>
            </a:pPr>
            <a:r>
              <a:rPr lang="en-US" sz="2200" b="1" dirty="0" smtClean="0">
                <a:latin typeface="Times New Roman" panose="02020603050405020304" pitchFamily="18" charset="0"/>
                <a:cs typeface="Times New Roman" panose="02020603050405020304" pitchFamily="18" charset="0"/>
              </a:rPr>
              <a:t>Key </a:t>
            </a:r>
            <a:r>
              <a:rPr lang="en-US" sz="2000" b="1" dirty="0">
                <a:latin typeface="Times New Roman" panose="02020603050405020304" pitchFamily="18" charset="0"/>
                <a:cs typeface="Times New Roman" panose="02020603050405020304" pitchFamily="18" charset="0"/>
              </a:rPr>
              <a:t>findings:</a:t>
            </a:r>
          </a:p>
          <a:p>
            <a:r>
              <a:rPr lang="en-US" sz="1900" dirty="0">
                <a:latin typeface="Times New Roman" panose="02020603050405020304" pitchFamily="18" charset="0"/>
                <a:cs typeface="Times New Roman" panose="02020603050405020304" pitchFamily="18" charset="0"/>
              </a:rPr>
              <a:t>Technical metrics like Finishing and Passing significantly influence transfer values.</a:t>
            </a:r>
          </a:p>
          <a:p>
            <a:r>
              <a:rPr lang="en-US" sz="1900" dirty="0">
                <a:latin typeface="Times New Roman" panose="02020603050405020304" pitchFamily="18" charset="0"/>
                <a:cs typeface="Times New Roman" panose="02020603050405020304" pitchFamily="18" charset="0"/>
              </a:rPr>
              <a:t>Random Forest identified the importance of Speed and Endurance among Physical metrics</a:t>
            </a:r>
            <a:r>
              <a:rPr lang="en-US" sz="1900" dirty="0" smtClean="0">
                <a:latin typeface="Times New Roman" panose="02020603050405020304" pitchFamily="18" charset="0"/>
                <a:cs typeface="Times New Roman" panose="02020603050405020304" pitchFamily="18" charset="0"/>
              </a:rPr>
              <a:t>.</a:t>
            </a:r>
            <a:endParaRPr lang="tr-TR" sz="1900" dirty="0" smtClean="0">
              <a:latin typeface="Times New Roman" panose="02020603050405020304" pitchFamily="18" charset="0"/>
              <a:cs typeface="Times New Roman" panose="02020603050405020304" pitchFamily="18" charset="0"/>
            </a:endParaRPr>
          </a:p>
        </p:txBody>
      </p:sp>
      <p:graphicFrame>
        <p:nvGraphicFramePr>
          <p:cNvPr id="4" name="Tablo 3"/>
          <p:cNvGraphicFramePr>
            <a:graphicFrameLocks noGrp="1"/>
          </p:cNvGraphicFramePr>
          <p:nvPr>
            <p:extLst>
              <p:ext uri="{D42A27DB-BD31-4B8C-83A1-F6EECF244321}">
                <p14:modId xmlns:p14="http://schemas.microsoft.com/office/powerpoint/2010/main" val="2677843307"/>
              </p:ext>
            </p:extLst>
          </p:nvPr>
        </p:nvGraphicFramePr>
        <p:xfrm>
          <a:off x="5940152" y="1628800"/>
          <a:ext cx="3096344" cy="3505200"/>
        </p:xfrm>
        <a:graphic>
          <a:graphicData uri="http://schemas.openxmlformats.org/drawingml/2006/table">
            <a:tbl>
              <a:tblPr firstRow="1" firstCol="1" bandRow="1">
                <a:tableStyleId>{5C22544A-7EE6-4342-B048-85BDC9FD1C3A}</a:tableStyleId>
              </a:tblPr>
              <a:tblGrid>
                <a:gridCol w="755827"/>
                <a:gridCol w="658668"/>
                <a:gridCol w="658668"/>
                <a:gridCol w="643927"/>
                <a:gridCol w="379254"/>
              </a:tblGrid>
              <a:tr h="928501">
                <a:tc>
                  <a:txBody>
                    <a:bodyPr/>
                    <a:lstStyle/>
                    <a:p>
                      <a:pPr algn="ctr">
                        <a:lnSpc>
                          <a:spcPct val="115000"/>
                        </a:lnSpc>
                        <a:spcAft>
                          <a:spcPts val="0"/>
                        </a:spcAft>
                      </a:pPr>
                      <a:r>
                        <a:rPr lang="en-US" sz="1000" dirty="0">
                          <a:effectLst/>
                        </a:rPr>
                        <a:t>Algorithms</a:t>
                      </a:r>
                      <a:endParaRPr lang="tr-TR"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dirty="0">
                          <a:effectLst/>
                        </a:rPr>
                        <a:t> </a:t>
                      </a:r>
                      <a:endParaRPr lang="tr-TR" sz="1100" dirty="0">
                        <a:effectLst/>
                      </a:endParaRPr>
                    </a:p>
                    <a:p>
                      <a:pPr algn="ctr">
                        <a:lnSpc>
                          <a:spcPct val="115000"/>
                        </a:lnSpc>
                        <a:spcAft>
                          <a:spcPts val="0"/>
                        </a:spcAft>
                      </a:pPr>
                      <a:r>
                        <a:rPr lang="en-US" sz="1000" dirty="0">
                          <a:effectLst/>
                        </a:rPr>
                        <a:t>High Impact Features Accuracy (%)</a:t>
                      </a:r>
                      <a:endParaRPr lang="tr-TR" sz="1100" dirty="0">
                        <a:effectLst/>
                      </a:endParaRPr>
                    </a:p>
                    <a:p>
                      <a:pPr algn="ctr">
                        <a:lnSpc>
                          <a:spcPct val="115000"/>
                        </a:lnSpc>
                        <a:spcAft>
                          <a:spcPts val="0"/>
                        </a:spcAft>
                      </a:pPr>
                      <a:r>
                        <a:rPr lang="en-US" sz="1000" dirty="0">
                          <a:effectLst/>
                        </a:rPr>
                        <a:t> </a:t>
                      </a:r>
                      <a:endParaRPr lang="tr-TR" sz="11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Low</a:t>
                      </a:r>
                      <a:endParaRPr lang="tr-TR" sz="1100">
                        <a:effectLst/>
                      </a:endParaRPr>
                    </a:p>
                    <a:p>
                      <a:pPr algn="ctr">
                        <a:lnSpc>
                          <a:spcPct val="115000"/>
                        </a:lnSpc>
                        <a:spcAft>
                          <a:spcPts val="0"/>
                        </a:spcAft>
                      </a:pPr>
                      <a:r>
                        <a:rPr lang="en-US" sz="1000">
                          <a:effectLst/>
                        </a:rPr>
                        <a:t>Impact Features Accuracy (%)</a:t>
                      </a:r>
                      <a:endParaRPr lang="tr-TR" sz="1100">
                        <a:effectLst/>
                      </a:endParaRPr>
                    </a:p>
                    <a:p>
                      <a:pPr algn="ctr">
                        <a:lnSpc>
                          <a:spcPct val="115000"/>
                        </a:lnSpc>
                        <a:spcAft>
                          <a:spcPts val="0"/>
                        </a:spcAft>
                      </a:pPr>
                      <a:r>
                        <a:rPr lang="en-US" sz="1000">
                          <a:effectLst/>
                        </a:rPr>
                        <a:t> </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MAE (in € millions)</a:t>
                      </a:r>
                      <a:endParaRPr lang="tr-TR" sz="1100">
                        <a:effectLst/>
                      </a:endParaRPr>
                    </a:p>
                    <a:p>
                      <a:pPr algn="ctr">
                        <a:lnSpc>
                          <a:spcPct val="115000"/>
                        </a:lnSpc>
                        <a:spcAft>
                          <a:spcPts val="0"/>
                        </a:spcAft>
                      </a:pPr>
                      <a:r>
                        <a:rPr lang="en-US" sz="1000">
                          <a:effectLst/>
                        </a:rPr>
                        <a:t> </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R²</a:t>
                      </a:r>
                      <a:endParaRPr lang="tr-TR" sz="1100">
                        <a:effectLst/>
                        <a:latin typeface="Calibri"/>
                        <a:ea typeface="Calibri"/>
                        <a:cs typeface="Times New Roman"/>
                      </a:endParaRPr>
                    </a:p>
                  </a:txBody>
                  <a:tcPr marL="68580" marR="68580" marT="0" marB="0" anchor="ctr"/>
                </a:tc>
              </a:tr>
              <a:tr h="168275">
                <a:tc>
                  <a:txBody>
                    <a:bodyPr/>
                    <a:lstStyle/>
                    <a:p>
                      <a:pPr algn="ctr">
                        <a:lnSpc>
                          <a:spcPct val="115000"/>
                        </a:lnSpc>
                        <a:spcAft>
                          <a:spcPts val="0"/>
                        </a:spcAft>
                      </a:pPr>
                      <a:r>
                        <a:rPr lang="en-US" sz="1000">
                          <a:effectLst/>
                        </a:rPr>
                        <a:t>Linear Regression</a:t>
                      </a:r>
                      <a:endParaRPr lang="tr-TR" sz="1100">
                        <a:effectLst/>
                      </a:endParaRPr>
                    </a:p>
                    <a:p>
                      <a:pPr algn="ctr">
                        <a:lnSpc>
                          <a:spcPct val="115000"/>
                        </a:lnSpc>
                        <a:spcAft>
                          <a:spcPts val="0"/>
                        </a:spcAft>
                      </a:pPr>
                      <a:r>
                        <a:rPr lang="en-US" sz="1000">
                          <a:effectLst/>
                        </a:rPr>
                        <a:t> </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65%</a:t>
                      </a:r>
                      <a:endParaRPr lang="tr-TR" sz="1100">
                        <a:effectLst/>
                      </a:endParaRPr>
                    </a:p>
                    <a:p>
                      <a:pPr algn="ctr">
                        <a:lnSpc>
                          <a:spcPct val="115000"/>
                        </a:lnSpc>
                        <a:spcAft>
                          <a:spcPts val="0"/>
                        </a:spcAft>
                      </a:pPr>
                      <a:r>
                        <a:rPr lang="en-US" sz="1000">
                          <a:effectLst/>
                        </a:rPr>
                        <a:t> </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45%</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22.45</a:t>
                      </a:r>
                      <a:endParaRPr lang="tr-TR" sz="11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0.12</a:t>
                      </a:r>
                      <a:endParaRPr lang="tr-TR" sz="1100">
                        <a:effectLst/>
                        <a:latin typeface="Calibri"/>
                        <a:ea typeface="Calibri"/>
                        <a:cs typeface="Times New Roman"/>
                      </a:endParaRPr>
                    </a:p>
                  </a:txBody>
                  <a:tcPr marL="68580" marR="68580" marT="0" marB="0"/>
                </a:tc>
              </a:tr>
              <a:tr h="168275">
                <a:tc>
                  <a:txBody>
                    <a:bodyPr/>
                    <a:lstStyle/>
                    <a:p>
                      <a:pPr algn="ctr">
                        <a:lnSpc>
                          <a:spcPct val="115000"/>
                        </a:lnSpc>
                        <a:spcAft>
                          <a:spcPts val="0"/>
                        </a:spcAft>
                      </a:pPr>
                      <a:r>
                        <a:rPr lang="en-US" sz="1000">
                          <a:effectLst/>
                        </a:rPr>
                        <a:t>Random Forest</a:t>
                      </a:r>
                      <a:endParaRPr lang="tr-TR" sz="1100">
                        <a:effectLst/>
                      </a:endParaRPr>
                    </a:p>
                    <a:p>
                      <a:pPr algn="ctr">
                        <a:lnSpc>
                          <a:spcPct val="115000"/>
                        </a:lnSpc>
                        <a:spcAft>
                          <a:spcPts val="0"/>
                        </a:spcAft>
                      </a:pPr>
                      <a:r>
                        <a:rPr lang="en-US" sz="1000">
                          <a:effectLst/>
                        </a:rPr>
                        <a:t> </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78%</a:t>
                      </a:r>
                      <a:endParaRPr lang="tr-TR" sz="1100">
                        <a:effectLst/>
                      </a:endParaRPr>
                    </a:p>
                    <a:p>
                      <a:pPr algn="ctr">
                        <a:lnSpc>
                          <a:spcPct val="115000"/>
                        </a:lnSpc>
                        <a:spcAft>
                          <a:spcPts val="0"/>
                        </a:spcAft>
                      </a:pPr>
                      <a:r>
                        <a:rPr lang="en-US" sz="1000">
                          <a:effectLst/>
                        </a:rPr>
                        <a:t> </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60%</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18.60</a:t>
                      </a:r>
                      <a:endParaRPr lang="tr-TR" sz="11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0.17</a:t>
                      </a:r>
                      <a:endParaRPr lang="tr-TR" sz="1100">
                        <a:effectLst/>
                        <a:latin typeface="Calibri"/>
                        <a:ea typeface="Calibri"/>
                        <a:cs typeface="Times New Roman"/>
                      </a:endParaRPr>
                    </a:p>
                  </a:txBody>
                  <a:tcPr marL="68580" marR="68580" marT="0" marB="0"/>
                </a:tc>
              </a:tr>
              <a:tr h="168275">
                <a:tc>
                  <a:txBody>
                    <a:bodyPr/>
                    <a:lstStyle/>
                    <a:p>
                      <a:pPr algn="ctr">
                        <a:lnSpc>
                          <a:spcPct val="115000"/>
                        </a:lnSpc>
                        <a:spcAft>
                          <a:spcPts val="0"/>
                        </a:spcAft>
                      </a:pPr>
                      <a:r>
                        <a:rPr lang="en-US" sz="1000">
                          <a:effectLst/>
                        </a:rPr>
                        <a:t>Gradient Boosting</a:t>
                      </a:r>
                      <a:endParaRPr lang="tr-TR" sz="1100">
                        <a:effectLst/>
                      </a:endParaRPr>
                    </a:p>
                    <a:p>
                      <a:pPr algn="ctr">
                        <a:lnSpc>
                          <a:spcPct val="115000"/>
                        </a:lnSpc>
                        <a:spcAft>
                          <a:spcPts val="0"/>
                        </a:spcAft>
                      </a:pPr>
                      <a:r>
                        <a:rPr lang="en-US" sz="1000">
                          <a:effectLst/>
                        </a:rPr>
                        <a:t> </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85%</a:t>
                      </a:r>
                      <a:endParaRPr lang="tr-TR" sz="1100">
                        <a:effectLst/>
                      </a:endParaRPr>
                    </a:p>
                    <a:p>
                      <a:pPr algn="ctr">
                        <a:lnSpc>
                          <a:spcPct val="115000"/>
                        </a:lnSpc>
                        <a:spcAft>
                          <a:spcPts val="0"/>
                        </a:spcAft>
                      </a:pPr>
                      <a:r>
                        <a:rPr lang="en-US" sz="1000">
                          <a:effectLst/>
                        </a:rPr>
                        <a:t> </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70%</a:t>
                      </a:r>
                      <a:endParaRPr lang="tr-TR" sz="1100">
                        <a:effectLst/>
                      </a:endParaRPr>
                    </a:p>
                    <a:p>
                      <a:pPr algn="ctr">
                        <a:lnSpc>
                          <a:spcPct val="115000"/>
                        </a:lnSpc>
                        <a:spcAft>
                          <a:spcPts val="0"/>
                        </a:spcAft>
                      </a:pPr>
                      <a:r>
                        <a:rPr lang="en-US" sz="1000">
                          <a:effectLst/>
                        </a:rPr>
                        <a:t> </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15.50</a:t>
                      </a:r>
                      <a:endParaRPr lang="tr-TR" sz="11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0.25</a:t>
                      </a:r>
                      <a:endParaRPr lang="tr-TR" sz="1100">
                        <a:effectLst/>
                        <a:latin typeface="Calibri"/>
                        <a:ea typeface="Calibri"/>
                        <a:cs typeface="Times New Roman"/>
                      </a:endParaRPr>
                    </a:p>
                  </a:txBody>
                  <a:tcPr marL="68580" marR="68580" marT="0" marB="0"/>
                </a:tc>
              </a:tr>
              <a:tr h="184785">
                <a:tc>
                  <a:txBody>
                    <a:bodyPr/>
                    <a:lstStyle/>
                    <a:p>
                      <a:pPr algn="ctr">
                        <a:lnSpc>
                          <a:spcPct val="115000"/>
                        </a:lnSpc>
                        <a:spcAft>
                          <a:spcPts val="0"/>
                        </a:spcAft>
                      </a:pPr>
                      <a:r>
                        <a:rPr lang="en-US" sz="1000">
                          <a:effectLst/>
                        </a:rPr>
                        <a:t>Support Vector Regression</a:t>
                      </a:r>
                      <a:endParaRPr lang="tr-TR" sz="1100">
                        <a:effectLst/>
                      </a:endParaRPr>
                    </a:p>
                    <a:p>
                      <a:pPr algn="ctr">
                        <a:lnSpc>
                          <a:spcPct val="115000"/>
                        </a:lnSpc>
                        <a:spcAft>
                          <a:spcPts val="0"/>
                        </a:spcAft>
                      </a:pPr>
                      <a:r>
                        <a:rPr lang="en-US" sz="1000">
                          <a:effectLst/>
                        </a:rPr>
                        <a:t> </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60%</a:t>
                      </a:r>
                      <a:endParaRPr lang="tr-TR" sz="1100">
                        <a:effectLst/>
                      </a:endParaRPr>
                    </a:p>
                    <a:p>
                      <a:pPr algn="ctr">
                        <a:lnSpc>
                          <a:spcPct val="115000"/>
                        </a:lnSpc>
                        <a:spcAft>
                          <a:spcPts val="0"/>
                        </a:spcAft>
                      </a:pPr>
                      <a:r>
                        <a:rPr lang="en-US" sz="1000">
                          <a:effectLst/>
                        </a:rPr>
                        <a:t> </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50%</a:t>
                      </a:r>
                      <a:endParaRPr lang="tr-TR" sz="1100">
                        <a:effectLst/>
                      </a:endParaRPr>
                    </a:p>
                    <a:p>
                      <a:pPr algn="ctr">
                        <a:lnSpc>
                          <a:spcPct val="115000"/>
                        </a:lnSpc>
                        <a:spcAft>
                          <a:spcPts val="0"/>
                        </a:spcAft>
                      </a:pPr>
                      <a:r>
                        <a:rPr lang="en-US" sz="1000">
                          <a:effectLst/>
                        </a:rPr>
                        <a:t> </a:t>
                      </a:r>
                      <a:endParaRPr lang="tr-TR" sz="11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US" sz="1000">
                          <a:effectLst/>
                        </a:rPr>
                        <a:t> </a:t>
                      </a:r>
                      <a:endParaRPr lang="tr-TR" sz="1100">
                        <a:effectLst/>
                      </a:endParaRPr>
                    </a:p>
                    <a:p>
                      <a:pPr algn="ctr">
                        <a:lnSpc>
                          <a:spcPct val="115000"/>
                        </a:lnSpc>
                        <a:spcAft>
                          <a:spcPts val="0"/>
                        </a:spcAft>
                      </a:pPr>
                      <a:r>
                        <a:rPr lang="en-US" sz="1000">
                          <a:effectLst/>
                        </a:rPr>
                        <a:t>20.30</a:t>
                      </a:r>
                      <a:endParaRPr lang="tr-TR" sz="1100">
                        <a:effectLst/>
                        <a:latin typeface="Calibri"/>
                        <a:ea typeface="Calibri"/>
                        <a:cs typeface="Times New Roman"/>
                      </a:endParaRPr>
                    </a:p>
                  </a:txBody>
                  <a:tcPr marL="68580" marR="68580" marT="0" marB="0"/>
                </a:tc>
                <a:tc>
                  <a:txBody>
                    <a:bodyPr/>
                    <a:lstStyle/>
                    <a:p>
                      <a:pPr algn="ctr">
                        <a:lnSpc>
                          <a:spcPct val="115000"/>
                        </a:lnSpc>
                        <a:spcAft>
                          <a:spcPts val="0"/>
                        </a:spcAft>
                      </a:pPr>
                      <a:r>
                        <a:rPr lang="en-US" sz="1000" dirty="0">
                          <a:effectLst/>
                        </a:rPr>
                        <a:t> </a:t>
                      </a:r>
                      <a:endParaRPr lang="tr-TR" sz="1100" dirty="0">
                        <a:effectLst/>
                      </a:endParaRPr>
                    </a:p>
                    <a:p>
                      <a:pPr algn="ctr">
                        <a:lnSpc>
                          <a:spcPct val="115000"/>
                        </a:lnSpc>
                        <a:spcAft>
                          <a:spcPts val="0"/>
                        </a:spcAft>
                      </a:pPr>
                      <a:r>
                        <a:rPr lang="en-US" sz="1000" dirty="0">
                          <a:effectLst/>
                        </a:rPr>
                        <a:t>0.10</a:t>
                      </a:r>
                      <a:endParaRPr lang="tr-TR" sz="1100" dirty="0">
                        <a:effectLst/>
                        <a:latin typeface="Calibri"/>
                        <a:ea typeface="Calibri"/>
                        <a:cs typeface="Times New Roman"/>
                      </a:endParaRPr>
                    </a:p>
                  </a:txBody>
                  <a:tcPr marL="68580" marR="68580" marT="0" marB="0"/>
                </a:tc>
              </a:tr>
            </a:tbl>
          </a:graphicData>
        </a:graphic>
      </p:graphicFrame>
    </p:spTree>
    <p:extLst>
      <p:ext uri="{BB962C8B-B14F-4D97-AF65-F5344CB8AC3E}">
        <p14:creationId xmlns:p14="http://schemas.microsoft.com/office/powerpoint/2010/main" val="32516109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4000" b="1" dirty="0" err="1">
                <a:solidFill>
                  <a:schemeClr val="accent1"/>
                </a:solidFill>
                <a:latin typeface="Times New Roman" panose="02020603050405020304" pitchFamily="18" charset="0"/>
                <a:cs typeface="Times New Roman" panose="02020603050405020304" pitchFamily="18" charset="0"/>
              </a:rPr>
              <a:t>Challenges</a:t>
            </a:r>
            <a:r>
              <a:rPr lang="tr-TR" sz="4000" b="1" dirty="0">
                <a:solidFill>
                  <a:schemeClr val="accent1"/>
                </a:solidFill>
                <a:latin typeface="Times New Roman" panose="02020603050405020304" pitchFamily="18" charset="0"/>
                <a:cs typeface="Times New Roman" panose="02020603050405020304" pitchFamily="18" charset="0"/>
              </a:rPr>
              <a:t> </a:t>
            </a:r>
            <a:r>
              <a:rPr lang="tr-TR" sz="4000" b="1" dirty="0" err="1">
                <a:solidFill>
                  <a:schemeClr val="accent1"/>
                </a:solidFill>
                <a:latin typeface="Times New Roman" panose="02020603050405020304" pitchFamily="18" charset="0"/>
                <a:cs typeface="Times New Roman" panose="02020603050405020304" pitchFamily="18" charset="0"/>
              </a:rPr>
              <a:t>and</a:t>
            </a:r>
            <a:r>
              <a:rPr lang="tr-TR" sz="4000" b="1" dirty="0">
                <a:solidFill>
                  <a:schemeClr val="accent1"/>
                </a:solidFill>
                <a:latin typeface="Times New Roman" panose="02020603050405020304" pitchFamily="18" charset="0"/>
                <a:cs typeface="Times New Roman" panose="02020603050405020304" pitchFamily="18" charset="0"/>
              </a:rPr>
              <a:t> </a:t>
            </a:r>
            <a:r>
              <a:rPr lang="tr-TR" sz="4000" b="1" dirty="0" err="1">
                <a:solidFill>
                  <a:schemeClr val="accent1"/>
                </a:solidFill>
                <a:latin typeface="Times New Roman" panose="02020603050405020304" pitchFamily="18" charset="0"/>
                <a:cs typeface="Times New Roman" panose="02020603050405020304" pitchFamily="18" charset="0"/>
              </a:rPr>
              <a:t>Resolutions</a:t>
            </a:r>
            <a:endParaRPr lang="tr-TR" sz="4000" b="1" dirty="0">
              <a:solidFill>
                <a:schemeClr val="accent1"/>
              </a:solidFill>
              <a:latin typeface="Times New Roman" panose="02020603050405020304" pitchFamily="18" charset="0"/>
              <a:cs typeface="Times New Roman" panose="02020603050405020304" pitchFamily="18" charset="0"/>
            </a:endParaRPr>
          </a:p>
        </p:txBody>
      </p:sp>
      <p:sp>
        <p:nvSpPr>
          <p:cNvPr id="3" name="İçerik Yer Tutucusu 2"/>
          <p:cNvSpPr>
            <a:spLocks noGrp="1"/>
          </p:cNvSpPr>
          <p:nvPr>
            <p:ph idx="1"/>
          </p:nvPr>
        </p:nvSpPr>
        <p:spPr/>
        <p:txBody>
          <a:bodyPr>
            <a:normAutofit fontScale="47500" lnSpcReduction="20000"/>
          </a:bodyPr>
          <a:lstStyle/>
          <a:p>
            <a:pPr marL="0" indent="0">
              <a:buNone/>
            </a:pPr>
            <a:r>
              <a:rPr lang="tr-TR" sz="3800" b="1" dirty="0">
                <a:latin typeface="Times New Roman" panose="02020603050405020304" pitchFamily="18" charset="0"/>
                <a:cs typeface="Times New Roman" panose="02020603050405020304" pitchFamily="18" charset="0"/>
              </a:rPr>
              <a:t>Data </a:t>
            </a:r>
            <a:r>
              <a:rPr lang="tr-TR" sz="3800" b="1" dirty="0" err="1">
                <a:latin typeface="Times New Roman" panose="02020603050405020304" pitchFamily="18" charset="0"/>
                <a:cs typeface="Times New Roman" panose="02020603050405020304" pitchFamily="18" charset="0"/>
              </a:rPr>
              <a:t>Challenges</a:t>
            </a:r>
            <a:r>
              <a:rPr lang="tr-TR" sz="3800" dirty="0">
                <a:latin typeface="Times New Roman" panose="02020603050405020304" pitchFamily="18" charset="0"/>
                <a:cs typeface="Times New Roman" panose="02020603050405020304" pitchFamily="18" charset="0"/>
              </a:rPr>
              <a:t>:</a:t>
            </a:r>
            <a:endParaRPr lang="en-US" sz="38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Problem: </a:t>
            </a:r>
            <a:r>
              <a:rPr lang="en-US" dirty="0">
                <a:latin typeface="Times New Roman" panose="02020603050405020304" pitchFamily="18" charset="0"/>
                <a:cs typeface="Times New Roman" panose="02020603050405020304" pitchFamily="18" charset="0"/>
              </a:rPr>
              <a:t>The dataset collected contained inconsistent or missing data</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tr-TR" b="1" dirty="0">
                <a:latin typeface="Times New Roman" panose="02020603050405020304" pitchFamily="18" charset="0"/>
                <a:cs typeface="Times New Roman" panose="02020603050405020304" pitchFamily="18" charset="0"/>
              </a:rPr>
              <a:t>S</a:t>
            </a:r>
            <a:r>
              <a:rPr lang="en-US" b="1" dirty="0" err="1" smtClean="0">
                <a:latin typeface="Times New Roman" panose="02020603050405020304" pitchFamily="18" charset="0"/>
                <a:cs typeface="Times New Roman" panose="02020603050405020304" pitchFamily="18" charset="0"/>
              </a:rPr>
              <a:t>olution</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gaps in the data have been filled using cleaning and imputation techniques to make sure that it is an integral and healthy dataset.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tr-TR" sz="3800" b="1" dirty="0" err="1">
                <a:latin typeface="Times New Roman" panose="02020603050405020304" pitchFamily="18" charset="0"/>
                <a:cs typeface="Times New Roman" panose="02020603050405020304" pitchFamily="18" charset="0"/>
              </a:rPr>
              <a:t>Algorithmic</a:t>
            </a:r>
            <a:r>
              <a:rPr lang="tr-TR" sz="3800" b="1" dirty="0">
                <a:latin typeface="Times New Roman" panose="02020603050405020304" pitchFamily="18" charset="0"/>
                <a:cs typeface="Times New Roman" panose="02020603050405020304" pitchFamily="18" charset="0"/>
              </a:rPr>
              <a:t> </a:t>
            </a:r>
            <a:r>
              <a:rPr lang="tr-TR" sz="3800" b="1" dirty="0" err="1">
                <a:latin typeface="Times New Roman" panose="02020603050405020304" pitchFamily="18" charset="0"/>
                <a:cs typeface="Times New Roman" panose="02020603050405020304" pitchFamily="18" charset="0"/>
              </a:rPr>
              <a:t>Limitations</a:t>
            </a:r>
            <a:r>
              <a:rPr lang="tr-TR" sz="3800" dirty="0">
                <a:latin typeface="Times New Roman" panose="02020603050405020304" pitchFamily="18" charset="0"/>
                <a:cs typeface="Times New Roman" panose="02020603050405020304" pitchFamily="18" charset="0"/>
              </a:rPr>
              <a:t>:</a:t>
            </a:r>
            <a:endParaRPr lang="en-US" sz="38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Problem: </a:t>
            </a:r>
            <a:r>
              <a:rPr lang="en-US" dirty="0">
                <a:latin typeface="Times New Roman" panose="02020603050405020304" pitchFamily="18" charset="0"/>
                <a:cs typeface="Times New Roman" panose="02020603050405020304" pitchFamily="18" charset="0"/>
              </a:rPr>
              <a:t>Some straightforward methods of regression, such as linear, did not capture nonlinear interactions.</a:t>
            </a:r>
          </a:p>
          <a:p>
            <a:r>
              <a:rPr lang="tr-TR" b="1" dirty="0">
                <a:latin typeface="Times New Roman" panose="02020603050405020304" pitchFamily="18" charset="0"/>
                <a:cs typeface="Times New Roman" panose="02020603050405020304" pitchFamily="18" charset="0"/>
              </a:rPr>
              <a:t>S</a:t>
            </a:r>
            <a:r>
              <a:rPr lang="en-US" b="1" dirty="0" err="1" smtClean="0">
                <a:latin typeface="Times New Roman" panose="02020603050405020304" pitchFamily="18" charset="0"/>
                <a:cs typeface="Times New Roman" panose="02020603050405020304" pitchFamily="18" charset="0"/>
              </a:rPr>
              <a:t>olution</a:t>
            </a:r>
            <a:r>
              <a:rPr lang="en-US" b="1"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Advanced </a:t>
            </a:r>
            <a:r>
              <a:rPr lang="en-US" dirty="0">
                <a:latin typeface="Times New Roman" panose="02020603050405020304" pitchFamily="18" charset="0"/>
                <a:cs typeface="Times New Roman" panose="02020603050405020304" pitchFamily="18" charset="0"/>
              </a:rPr>
              <a:t>algorithms, such as Gradient Boosting and Random Forest, were employed to capture complex patterns</a:t>
            </a:r>
            <a:r>
              <a:rPr lang="en-US" dirty="0" smtClean="0">
                <a:latin typeface="Times New Roman" panose="02020603050405020304" pitchFamily="18" charset="0"/>
                <a:cs typeface="Times New Roman" panose="02020603050405020304" pitchFamily="18" charset="0"/>
              </a:rPr>
              <a:t>.</a:t>
            </a:r>
            <a:endParaRPr lang="tr-TR" dirty="0" smtClean="0">
              <a:latin typeface="Times New Roman" panose="02020603050405020304" pitchFamily="18" charset="0"/>
              <a:cs typeface="Times New Roman" panose="02020603050405020304" pitchFamily="18" charset="0"/>
            </a:endParaRPr>
          </a:p>
          <a:p>
            <a:endParaRPr lang="tr-TR" dirty="0" smtClean="0">
              <a:latin typeface="Times New Roman" panose="02020603050405020304" pitchFamily="18" charset="0"/>
              <a:cs typeface="Times New Roman" panose="02020603050405020304" pitchFamily="18" charset="0"/>
            </a:endParaRPr>
          </a:p>
          <a:p>
            <a:pPr marL="0" indent="0">
              <a:buNone/>
            </a:pPr>
            <a:r>
              <a:rPr lang="tr-TR" b="1" dirty="0" smtClean="0">
                <a:latin typeface="Times New Roman" panose="02020603050405020304" pitchFamily="18" charset="0"/>
                <a:cs typeface="Times New Roman" panose="02020603050405020304" pitchFamily="18" charset="0"/>
              </a:rPr>
              <a:t>Time </a:t>
            </a:r>
            <a:r>
              <a:rPr lang="tr-TR" b="1" dirty="0" err="1">
                <a:latin typeface="Times New Roman" panose="02020603050405020304" pitchFamily="18" charset="0"/>
                <a:cs typeface="Times New Roman" panose="02020603050405020304" pitchFamily="18" charset="0"/>
              </a:rPr>
              <a:t>Constraints</a:t>
            </a:r>
            <a:r>
              <a:rPr lang="tr-TR"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Problem: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dataset pre-processing, feature engineering, and model fine-tuning took a great deal of time. </a:t>
            </a:r>
            <a:endParaRPr lang="tr-TR"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Solution</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This was managed using a well-thought-out project schedule along with job priority</a:t>
            </a:r>
            <a:r>
              <a:rPr lang="en-US" dirty="0" smtClean="0">
                <a:latin typeface="Times New Roman" panose="02020603050405020304" pitchFamily="18" charset="0"/>
                <a:cs typeface="Times New Roman" panose="02020603050405020304" pitchFamily="18" charset="0"/>
              </a:rPr>
              <a:t>.</a:t>
            </a:r>
            <a:endParaRPr lang="tr-TR" dirty="0" smtClean="0">
              <a:latin typeface="Times New Roman" panose="02020603050405020304" pitchFamily="18" charset="0"/>
              <a:cs typeface="Times New Roman" panose="02020603050405020304" pitchFamily="18" charset="0"/>
            </a:endParaRPr>
          </a:p>
          <a:p>
            <a:endParaRPr lang="tr-TR"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 </a:t>
            </a:r>
            <a:r>
              <a:rPr lang="tr-TR" b="1" dirty="0" err="1">
                <a:latin typeface="Times New Roman" panose="02020603050405020304" pitchFamily="18" charset="0"/>
                <a:cs typeface="Times New Roman" panose="02020603050405020304" pitchFamily="18" charset="0"/>
              </a:rPr>
              <a:t>Feature</a:t>
            </a:r>
            <a:r>
              <a:rPr lang="tr-TR" b="1" dirty="0">
                <a:latin typeface="Times New Roman" panose="02020603050405020304" pitchFamily="18" charset="0"/>
                <a:cs typeface="Times New Roman" panose="02020603050405020304" pitchFamily="18" charset="0"/>
              </a:rPr>
              <a:t> </a:t>
            </a:r>
            <a:r>
              <a:rPr lang="tr-TR" b="1" dirty="0" err="1">
                <a:latin typeface="Times New Roman" panose="02020603050405020304" pitchFamily="18" charset="0"/>
                <a:cs typeface="Times New Roman" panose="02020603050405020304" pitchFamily="18" charset="0"/>
              </a:rPr>
              <a:t>Importance</a:t>
            </a:r>
            <a:r>
              <a:rPr lang="tr-TR" b="1" dirty="0">
                <a:latin typeface="Times New Roman" panose="02020603050405020304" pitchFamily="18" charset="0"/>
                <a:cs typeface="Times New Roman" panose="02020603050405020304" pitchFamily="18" charset="0"/>
              </a:rPr>
              <a:t> Analysis</a:t>
            </a:r>
            <a:r>
              <a:rPr lang="tr-TR" dirty="0" smtClean="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Problem: </a:t>
            </a:r>
            <a:r>
              <a:rPr lang="en-US" dirty="0" smtClean="0">
                <a:latin typeface="Times New Roman" panose="02020603050405020304" pitchFamily="18" charset="0"/>
                <a:cs typeface="Times New Roman" panose="02020603050405020304" pitchFamily="18" charset="0"/>
              </a:rPr>
              <a:t>Identifying </a:t>
            </a:r>
            <a:r>
              <a:rPr lang="en-US" dirty="0">
                <a:latin typeface="Times New Roman" panose="02020603050405020304" pitchFamily="18" charset="0"/>
                <a:cs typeface="Times New Roman" panose="02020603050405020304" pitchFamily="18" charset="0"/>
              </a:rPr>
              <a:t>and analyzing the main features which contributed to the variation of transfer values was more problematic. </a:t>
            </a:r>
            <a:endParaRPr lang="tr-TR"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Solution</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Random Forest output on feature importance made it pretty clear which</a:t>
            </a:r>
            <a:endParaRPr lang="tr-T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20749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4000" b="1" dirty="0" err="1">
                <a:solidFill>
                  <a:schemeClr val="accent1"/>
                </a:solidFill>
                <a:latin typeface="Times New Roman" panose="02020603050405020304" pitchFamily="18" charset="0"/>
                <a:cs typeface="Times New Roman" panose="02020603050405020304" pitchFamily="18" charset="0"/>
              </a:rPr>
              <a:t>Conclusion</a:t>
            </a:r>
            <a:endParaRPr lang="tr-TR" sz="4000" b="1" dirty="0">
              <a:solidFill>
                <a:schemeClr val="accent1"/>
              </a:solidFill>
              <a:latin typeface="Times New Roman" panose="02020603050405020304" pitchFamily="18" charset="0"/>
              <a:cs typeface="Times New Roman" panose="02020603050405020304" pitchFamily="18" charset="0"/>
            </a:endParaRPr>
          </a:p>
        </p:txBody>
      </p:sp>
      <p:sp>
        <p:nvSpPr>
          <p:cNvPr id="3" name="İçerik Yer Tutucusu 2"/>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This project really proved how machine learning could revolutionize the transfer value prediction of football, thereby providing a robust tool for data-driven decision-making in football clubs. Gradient Boosting proved to be the best algorithm in this regard, while the study pointed out the key performance metrics important for valuation. This will improve not only the accuracy but also reduce financial risks in player recruitment.</a:t>
            </a:r>
            <a:endParaRPr lang="tr-T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39258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448</Words>
  <Application>Microsoft Office PowerPoint</Application>
  <PresentationFormat>Ekran Gösterisi (4:3)</PresentationFormat>
  <Paragraphs>108</Paragraphs>
  <Slides>7</Slides>
  <Notes>0</Notes>
  <HiddenSlides>0</HiddenSlides>
  <MMClips>0</MMClips>
  <ScaleCrop>false</ScaleCrop>
  <HeadingPairs>
    <vt:vector size="4" baseType="variant">
      <vt:variant>
        <vt:lpstr>Tema</vt:lpstr>
      </vt:variant>
      <vt:variant>
        <vt:i4>1</vt:i4>
      </vt:variant>
      <vt:variant>
        <vt:lpstr>Slayt Başlıkları</vt:lpstr>
      </vt:variant>
      <vt:variant>
        <vt:i4>7</vt:i4>
      </vt:variant>
    </vt:vector>
  </HeadingPairs>
  <TitlesOfParts>
    <vt:vector size="8" baseType="lpstr">
      <vt:lpstr>Ofis Teması</vt:lpstr>
      <vt:lpstr>Analysis of Player Performance and Transfer Values with Machine Learning</vt:lpstr>
      <vt:lpstr>Problem Statement</vt:lpstr>
      <vt:lpstr>Objective</vt:lpstr>
      <vt:lpstr>Methodology</vt:lpstr>
      <vt:lpstr>Results and Outcomes</vt:lpstr>
      <vt:lpstr>Challenges and Resolutions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Player Performance and Transfer Values with Machine Learning</dc:title>
  <dc:creator>Administrator</dc:creator>
  <cp:lastModifiedBy>Windows Kullanıcısı</cp:lastModifiedBy>
  <cp:revision>7</cp:revision>
  <dcterms:created xsi:type="dcterms:W3CDTF">2025-01-08T13:25:14Z</dcterms:created>
  <dcterms:modified xsi:type="dcterms:W3CDTF">2025-01-08T14:50:37Z</dcterms:modified>
</cp:coreProperties>
</file>